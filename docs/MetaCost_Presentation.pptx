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slides/slide1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presentation.xml" ContentType="application/vnd.openxmlformats-officedocument.presentationml.presentation.main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"/>
  </p:notes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</p:sldIdLst>
  <p:sldSz cx="12191695" cy="6858000"/>
  <p:notesSz cx="6858000" cy="9144000"/>
  <p:defaultTextStyle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rgbClr val="FF0000"/>
    </p:penClr>
  </p:showPr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theme" Target="theme/theme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8940" cy="457200"/>
          </a:xfrm>
          <a:prstGeom prst="rect">
            <a:avLst/>
          </a:prstGeom>
        </p:spPr>
        <p:txBody>
          <a:bodyPr/>
          <a:lstStyle/>
          <a:p/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909060" y="0"/>
            <a:ext cx="2948940" cy="457200"/>
          </a:xfrm>
          <a:prstGeom prst="rect">
            <a:avLst/>
          </a:prstGeom>
        </p:spPr>
        <p:txBody>
          <a:bodyPr/>
          <a:lstStyle/>
          <a:p/>
        </p:txBody>
      </p:sp>
      <p:sp>
        <p:nvSpPr>
          <p:cNvPr id="4" name="Slide Image Placeholder 3"/>
          <p:cNvSpPr>
            <a:spLocks noGrp="1"/>
          </p:cNvSpPr>
          <p:nvPr>
            <p:ph type="sldImg" idx="2"/>
          </p:nvPr>
        </p:nvSpPr>
        <p:spPr>
          <a:xfrm>
            <a:off x="857250" y="1143000"/>
            <a:ext cx="5143500" cy="3429000"/>
          </a:xfrm>
          <a:prstGeom prst="rect">
            <a:avLst/>
          </a:prstGeom>
          <a:noFill/>
          <a:ln w="12700">
            <a:solidFill>
              <a:srgbClr val="000000"/>
            </a:solidFill>
          </a:ln>
        </p:spPr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846320"/>
            <a:ext cx="5486400" cy="3291840"/>
          </a:xfrm>
          <a:prstGeom prst="rect">
            <a:avLst/>
          </a:prstGeom>
        </p:spPr>
        <p:txBody>
          <a:bodyPr/>
          <a:lstStyle/>
          <a:p>
            <a:r>
              <a:rPr/>
              <a:t>Click to edit Master text styles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6800"/>
            <a:ext cx="2948940" cy="457200"/>
          </a:xfrm>
          <a:prstGeom prst="rect">
            <a:avLst/>
          </a:prstGeom>
        </p:spPr>
        <p:txBody>
          <a:bodyPr/>
          <a:lstStyle/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09060" y="8686800"/>
            <a:ext cx="2948940" cy="457200"/>
          </a:xfrm>
          <a:prstGeom prst="rect">
            <a:avLst/>
          </a:prstGeom>
        </p:spPr>
        <p:txBody>
          <a:bodyPr/>
          <a:lstStyle/>
          <a:p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>
      <a:defRPr sz="1200">
        <a:solidFill>
          <a:schemeClr val="tx1"/>
        </a:solidFill>
        <a:latin typeface="+mn-lt"/>
      </a:defRPr>
    </a:lvl1pPr>
    <a:lvl2pPr marL="457200" algn="l">
      <a:defRPr sz="1200">
        <a:solidFill>
          <a:schemeClr val="tx1"/>
        </a:solidFill>
        <a:latin typeface="+mn-lt"/>
      </a:defRPr>
    </a:lvl2pPr>
    <a:lvl3pPr marL="914400" algn="l">
      <a:defRPr sz="1200">
        <a:solidFill>
          <a:schemeClr val="tx1"/>
        </a:solidFill>
        <a:latin typeface="+mn-lt"/>
      </a:defRPr>
    </a:lvl3pPr>
    <a:lvl4pPr marL="1371600" algn="l">
      <a:defRPr sz="1200">
        <a:solidFill>
          <a:schemeClr val="tx1"/>
        </a:solidFill>
        <a:latin typeface="+mn-lt"/>
      </a:defRPr>
    </a:lvl4pPr>
    <a:lvl5pPr marL="1828800" algn="l">
      <a:defRPr sz="1200">
        <a:solidFill>
          <a:schemeClr val="tx1"/>
        </a:solidFill>
        <a:latin typeface="+mn-lt"/>
      </a:defRPr>
    </a:lvl5pPr>
    <a:lvl6pPr marL="2286000" algn="l">
      <a:defRPr sz="1200">
        <a:solidFill>
          <a:schemeClr val="tx1"/>
        </a:solidFill>
        <a:latin typeface="+mn-lt"/>
      </a:defRPr>
    </a:lvl6pPr>
    <a:lvl7pPr marL="2743200" algn="l">
      <a:defRPr sz="1200">
        <a:solidFill>
          <a:schemeClr val="tx1"/>
        </a:solidFill>
        <a:latin typeface="+mn-lt"/>
      </a:defRPr>
    </a:lvl7pPr>
    <a:lvl8pPr marL="3200400" algn="l">
      <a:defRPr sz="1200">
        <a:solidFill>
          <a:schemeClr val="tx1"/>
        </a:solidFill>
        <a:latin typeface="+mn-lt"/>
      </a:defRPr>
    </a:lvl8pPr>
    <a:lvl9pPr marL="3657600" algn="l">
      <a:defRPr sz="1200">
        <a:solidFill>
          <a:schemeClr val="tx1"/>
        </a:solidFill>
        <a:latin typeface="+mn-lt"/>
      </a:defRPr>
    </a:lvl9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Introduce the team. One line: we predict how much energy a person burns while walking in an exoskeleton, from sensors they could wear anywhere, instead of from a lab-only breathing mask.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Walk through left to right. Pre-processing was done by the lab: EMG filtering and day normalisation. Our contribution starts at the feature matrix. On evaluation: the original paper describes 10-fold cross-validation for tuning its LASSO model. We instead use repeated nested 5-fold CV, so every model-selection step stays inside the training folds, plus leave-one-day-out to test a new session. Because the protocols differ, the paper's scores are reference benchmarks, not a like-for-like match.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Explain HILO: CMA-ES proposes a torque profile every 2 min and keeps those with the lowest metabolic cost (Zhang et al., Science 2017). Metabolic cost comes from a mask (indirect calorimetry): slow, noisy, lab-only. If we can predict it from wearable signals, HILO becomes faster and portable.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Data from the Stanford Biomechatronics Lab HILO study, as released with the CS229 paper we were given. Each row is the last 30 s of a 2-min condition. One Subject-2 row had a negative (impossible) metabolic rate and is removed, as in the original. Point at the plot: cost drops ~40% across days because the user learns to walk with the exo. The data are non-stationary, which matters later.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The paper used MATLAB trainbr. We re-implemented it in NumPy: Levenberg-Marquardt steps plus MacKay's evidence updates for alpha, beta and gamma, so regularisation is learned from the training data with no validation split. The Jacobian is closed form and unit-tested against finite differences. The neuron sweep (right) reproduces the paper's Fig. 1: 1-2 neurons are best. The Gaussian Process adds calibrated uncertainty.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Under our evaluation setup (repeated nested 5-fold CV), our best models reach lower MSE on both subjects: S1 0.0079 (ensemble) and S2 0.0109 (SVR). The paper's 0.0089 (S1) is linear regression on all features and its 0.0168 (S2) is linear regression on step + EMG features, under its own CV. Different models and protocols, so treat the paper's numbers as reference benchmarks, not a like-for-like comparison. In plain terms our error is about 9-10% of normal-walking cost, versus 19-26% for predicting the mean.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Dark bars use repeated nested 5-fold CV; light bars use leave-one-day-out. Every model gets worse on an unseen day: neighbouring conditions from the same day leak information under random splits. For S1, heavily regularised linear models (OLS/PLS/Ridge) generalise best across days, while trees and kNN overfit. For S2, several models are worse than the mean on unseen days.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Each day is predicted by a GP trained only on the other four days; the shaded band is the GP 95% interval. The stat cards on the right are each subject's BEST unseen-day model (S1: OLS, S2: Gradient Boosting); the GP drawn here is worse for S2 (MSE 0.046). S1 tracks closely (GP r = 0.88; OLS R² 0.79). S2 misses the drop in level on days 3-5: its sensors do not see that change, and the wider band shows the GP knows it is less sure. For CMA-ES, ranking within a day is what matters; Spearman rho is about 0.6 for S1.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Permutation importance on held-out folds, plus a group-wise permutation. EMG &gt; Step &gt; Control for S1, and EMG &gt; Control &gt; Step for S2, matching the paper's ablation. LASSO stability selection over 200 bootstraps keeps R4 and R7 (S1) and R2 (S2) 93-100% of the time, so a reduced sensor set is realistic. Dropping the control parameters barely hurts, which is good for portability to other devices.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Calibration: on a new day, measure k random conditions with the mask and shift that day's predictions by a shrunken offset w * mean residual, with w = k / (k + sigma^2 / tau^2). Both variances are estimated from the training days only (empirical Bayes). S2 trusts calibration (w about 0.87); S1, whose days are already well predicted, trusts it less. 3 of 36 readings: S2 GP 0.046 -&gt; 0.022. Calibrating on the first conditions of a session is biased (cost runs high early on) and hurt S1 at k &gt;= 5; shrinkage limits the damage. Sensors: electrode choice is made inside each training fold, so there is no leakage. Cross-subject recalibration did NOT help: a new person needs their own data.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Thank the panel.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Open a terminal in the project folder (cd into ML proj). Run the three commands in order. (1) The baseline from our port of the paper prints linear-regression MSE 0.0107 and R2 0.83 for Subject 1. This is the baseline, not our headline result: our best model reaches 0.0079 (slide 6). The paper reports 0.0089; the gap comes from different fold splits on only 180 samples. (2) predict.py trains a Gaussian Process on 4 days and predicts each unseen day; errors of about 11-17 %. (3) pytest shows all 10 tests pass. Total under a minute.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Central conclusion: EMG and gait signals predict metabolic cost reasonably well within a session. However, unseen-day shifts and individual differences remain important limitations. Limited metabolic spot-checks may improve predictions, but validation on more subjects and real sessions is still needed. Future work: the biggest lever is more people. A daily calibration walk could fix the day-level offset seen in Subject 2. Use the prediction as a prior to speed up the optimiser rather than as a complete replacement for the mask.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395B21-E8EE-4505-87E0-7B7F2C3DBBD0}" type="datetimeFigureOut">
              <a:rPr lang="en-US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DC6D5D-A00E-4AA9-84F2-364CBECE0EEA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E609E6-1126-4CCC-8F95-892B304C12E9}" type="datetimeFigureOut">
              <a:rPr lang="en-US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D0F9E-EF7E-4C26-8662-25A73F2263DD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3082BF-5467-4883-8896-824F7369BC9A}" type="datetimeFigureOut">
              <a:rPr lang="en-US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C18080-B33E-4073-8615-72D8F5AE8F78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A66248-C912-41CA-84D9-08E1C7982093}" type="datetimeFigureOut">
              <a:rPr lang="en-US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CB9569-04AF-4288-8880-64CE52ABE7A3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/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EFB636-F4D9-4299-85F9-44D23E27C49C}" type="datetimeFigureOut">
              <a:rPr lang="en-US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533E07-937E-4FED-8300-891295843456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CAC346-E4DF-45C0-848B-E2AC5513E0D5}" type="datetimeFigureOut">
              <a:rPr lang="en-US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28B55B-FA15-48BA-860D-0231187503D9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20B29E-DC2A-4D67-887F-3BE2DC8489D6}" type="datetimeFigureOut">
              <a:rPr lang="en-US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E0EBC0-ADA9-4FA7-889C-9287646BC79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C563BD-7186-488E-816C-8F41FA24179F}" type="datetimeFigureOut">
              <a:rPr lang="en-US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A25AB8-FB3A-479C-8780-0B7E5F586C0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E02C48-70E8-4C8D-81F4-17FB598144B8}" type="datetimeFigureOut">
              <a:rPr lang="en-US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EFC29A-6C4F-4141-86E3-1A3E2D58E3A2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602B83-4DFE-444B-8222-D5FF1EA6B44C}" type="datetimeFigureOut">
              <a:rPr lang="en-US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19C649-D3E0-46CB-87C1-67136E4226A6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  <a:prstGeom prst="rect">
            <a:avLst/>
          </a:prstGeo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  <a:prstGeom prst="rect">
            <a:avLst/>
          </a:prstGeom>
        </p:spPr>
        <p:txBody>
          <a:bodyPr vert="eaVert"/>
          <a:lstStyle/>
          <a:p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FA40F9-1701-4EB4-806D-4ED861E7A003}" type="datetimeFigureOut">
              <a:rPr lang="en-US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EBE78A-EB3E-401E-81B5-D7F53201DAF3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Office Them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0ADADCF-DC63-475D-8D69-AEBF4EDF3BBC}" type="datetimeFigureOut">
              <a:rPr lang="en-US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73D6AB1-0FDA-49F1-8390-8828CE9E6676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6.png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7.png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48640" y="1143000"/>
            <a:ext cx="1005840" cy="384048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00584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ML · #11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83080"/>
            <a:ext cx="10515600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mbria"/>
              </a:rPr>
              <a:t>Predicting Metabolic Cost</a:t>
            </a:r>
          </a:p>
          <a:p>
            <a:pPr algn="l"/>
            <a:r>
              <a:rPr sz="4400" b="1" i="0">
                <a:solidFill>
                  <a:srgbClr val="FFFFFF"/>
                </a:solidFill>
                <a:latin typeface="Cambria"/>
              </a:rPr>
              <a:t>During Human-in-the-Loop Optimisation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703320"/>
            <a:ext cx="100584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0">
                <a:solidFill>
                  <a:srgbClr val="BFD4F2"/>
                </a:solidFill>
                <a:latin typeface="Calibri"/>
              </a:rPr>
              <a:t>Replacing a slow, lab-only face-mask measurement with wearable EMG and gait sensors, for exoskeletons that tune themselves outside the lab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074920"/>
            <a:ext cx="73152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Team:  </a:t>
            </a:r>
            <a:r>
              <a:rPr sz="1600" b="0" i="0">
                <a:solidFill>
                  <a:srgbClr val="BFD4F2"/>
                </a:solidFill>
                <a:latin typeface="Calibri"/>
              </a:rPr>
              <a:t>Mukil Skanda A (PES1UG24CS281)   ·   Likhith M (PES1UG24CS282)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BFD4F2"/>
                </a:solidFill>
                <a:latin typeface="Calibri"/>
              </a:rPr>
              <a:t>UE24CS352A Machine Learning · Mini-Project Review · October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47472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2A78D6"/>
                </a:solidFill>
                <a:latin typeface="Calibri"/>
              </a:rPr>
              <a:t>METHODOLOGY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10642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0F1B2D"/>
                </a:solidFill>
                <a:latin typeface="Cambria"/>
              </a:rPr>
              <a:t>End-to-end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55B66"/>
                </a:solidFill>
                <a:latin typeface="Calibri"/>
              </a:rPr>
              <a:t>MetaCost · Predicting metabolic cost during HILO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19088"/>
            <a:ext cx="66751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55B66"/>
                </a:solidFill>
                <a:latin typeface="Calibri"/>
              </a:rPr>
              <a:t>4</a:t>
            </a:r>
          </a:p>
        </p:txBody>
      </p:sp>
      <p:pic>
        <p:nvPicPr>
          <p:cNvPr id="6" name="Picture 5" descr="F13_pipeline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548640" y="1463040"/>
            <a:ext cx="11064240" cy="276606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48640" y="4343400"/>
            <a:ext cx="3520440" cy="1554480"/>
          </a:xfrm>
          <a:prstGeom prst="roundRect">
            <a:avLst>
              <a:gd name="adj" fmla="val 8000"/>
            </a:avLst>
          </a:prstGeom>
          <a:solidFill>
            <a:srgbClr val="F1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77240" y="4498848"/>
            <a:ext cx="457200" cy="457200"/>
          </a:xfrm>
          <a:prstGeom prst="ellipse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4526280"/>
            <a:ext cx="25603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0F1B2D"/>
                </a:solidFill>
                <a:latin typeface="Calibri"/>
              </a:rPr>
              <a:t>Leakage-free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029200"/>
            <a:ext cx="31089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555B66"/>
                </a:solidFill>
                <a:latin typeface="Calibri"/>
              </a:rPr>
              <a:t>Scaling and every hyper-parameter search happen inside the training folds (nested CV), so no test data influences model selection.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79" y="4343400"/>
            <a:ext cx="3520440" cy="1554480"/>
          </a:xfrm>
          <a:prstGeom prst="roundRect">
            <a:avLst>
              <a:gd name="adj" fmla="val 8000"/>
            </a:avLst>
          </a:prstGeom>
          <a:solidFill>
            <a:srgbClr val="F1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526279" y="4498848"/>
            <a:ext cx="457200" cy="457200"/>
          </a:xfrm>
          <a:prstGeom prst="ellipse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0640" y="4526280"/>
            <a:ext cx="25603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0F1B2D"/>
                </a:solidFill>
                <a:latin typeface="Calibri"/>
              </a:rPr>
              <a:t>Two protocols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6279" y="5029200"/>
            <a:ext cx="31089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555B66"/>
                </a:solidFill>
                <a:latin typeface="Calibri"/>
              </a:rPr>
              <a:t>Repeated nested 5-fold CV for comparison, and leave-one-day-out to test generalisation to an unseen session.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19" y="4343400"/>
            <a:ext cx="3520440" cy="1554480"/>
          </a:xfrm>
          <a:prstGeom prst="roundRect">
            <a:avLst>
              <a:gd name="adj" fmla="val 8000"/>
            </a:avLst>
          </a:prstGeom>
          <a:solidFill>
            <a:srgbClr val="F1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275319" y="4498848"/>
            <a:ext cx="457200" cy="457200"/>
          </a:xfrm>
          <a:prstGeom prst="ellipse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69680" y="4526280"/>
            <a:ext cx="25603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0F1B2D"/>
                </a:solidFill>
                <a:latin typeface="Calibri"/>
              </a:rPr>
              <a:t>Two layers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75319" y="5029200"/>
            <a:ext cx="31089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555B66"/>
                </a:solidFill>
                <a:latin typeface="Calibri"/>
              </a:rPr>
              <a:t>A faithful 1:1 Python port of the paper's MATLAB scripts (baseline), plus the extended study: 12 experiments, 16 figures, 10 unit tests.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5989320"/>
            <a:ext cx="11064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1">
                <a:solidFill>
                  <a:srgbClr val="0F1B2D"/>
                </a:solidFill>
                <a:latin typeface="Calibri"/>
              </a:rPr>
              <a:t>We evaluate both predictive accuracy and whether it holds on a new day.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47472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2A78D6"/>
                </a:solidFill>
                <a:latin typeface="Calibri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10642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0F1B2D"/>
                </a:solidFill>
                <a:latin typeface="Cambria"/>
              </a:rPr>
              <a:t>Exoskeleton tuning is bottlenecked by a breathing mask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55B66"/>
                </a:solidFill>
                <a:latin typeface="Calibri"/>
              </a:rPr>
              <a:t>MetaCost · Predicting metabolic cost during HILO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19088"/>
            <a:ext cx="66751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55B66"/>
                </a:solidFill>
                <a:latin typeface="Calibri"/>
              </a:rPr>
              <a:t>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37360"/>
            <a:ext cx="2514600" cy="1234440"/>
          </a:xfrm>
          <a:prstGeom prst="roundRect">
            <a:avLst>
              <a:gd name="adj" fmla="val 8000"/>
            </a:avLst>
          </a:prstGeom>
          <a:solidFill>
            <a:srgbClr val="F1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874519"/>
            <a:ext cx="21488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0F1B2D"/>
                </a:solidFill>
                <a:latin typeface="Calibri"/>
              </a:rPr>
              <a:t>CMA-ES optimiser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21488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555B66"/>
                </a:solidFill>
                <a:latin typeface="Calibri"/>
              </a:rPr>
              <a:t>proposes new torque profile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108960" y="2212848"/>
            <a:ext cx="182880" cy="274320"/>
          </a:xfrm>
          <a:prstGeom prst="rightArrow">
            <a:avLst/>
          </a:prstGeom>
          <a:solidFill>
            <a:srgbClr val="555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246120" y="1737360"/>
            <a:ext cx="2514600" cy="1234440"/>
          </a:xfrm>
          <a:prstGeom prst="roundRect">
            <a:avLst>
              <a:gd name="adj" fmla="val 8000"/>
            </a:avLst>
          </a:prstGeom>
          <a:solidFill>
            <a:srgbClr val="F1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29000" y="1874519"/>
            <a:ext cx="21488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0F1B2D"/>
                </a:solidFill>
                <a:latin typeface="Calibri"/>
              </a:rPr>
              <a:t>Exoskeleton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29000" y="2331720"/>
            <a:ext cx="21488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555B66"/>
                </a:solidFill>
                <a:latin typeface="Calibri"/>
              </a:rPr>
              <a:t>applies it for 2 min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5806440" y="2212848"/>
            <a:ext cx="182880" cy="274320"/>
          </a:xfrm>
          <a:prstGeom prst="rightArrow">
            <a:avLst/>
          </a:prstGeom>
          <a:solidFill>
            <a:srgbClr val="555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0" y="1737360"/>
            <a:ext cx="2514600" cy="1234440"/>
          </a:xfrm>
          <a:prstGeom prst="roundRect">
            <a:avLst>
              <a:gd name="adj" fmla="val 8000"/>
            </a:avLst>
          </a:prstGeom>
          <a:solidFill>
            <a:srgbClr val="F1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26480" y="1874519"/>
            <a:ext cx="21488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0F1B2D"/>
                </a:solidFill>
                <a:latin typeface="Calibri"/>
              </a:rPr>
              <a:t>Human walks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26480" y="2331720"/>
            <a:ext cx="21488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555B66"/>
                </a:solidFill>
                <a:latin typeface="Calibri"/>
              </a:rPr>
              <a:t>body adapts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8503920" y="2212848"/>
            <a:ext cx="182880" cy="274320"/>
          </a:xfrm>
          <a:prstGeom prst="rightArrow">
            <a:avLst/>
          </a:prstGeom>
          <a:solidFill>
            <a:srgbClr val="555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641080" y="1737360"/>
            <a:ext cx="2514600" cy="1234440"/>
          </a:xfrm>
          <a:prstGeom prst="roundRect">
            <a:avLst>
              <a:gd name="adj" fmla="val 8000"/>
            </a:avLst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23959" y="1874519"/>
            <a:ext cx="21488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Metabolic cost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23959" y="2331720"/>
            <a:ext cx="21488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measured via face mask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3090672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1">
                <a:solidFill>
                  <a:srgbClr val="555B66"/>
                </a:solidFill>
                <a:latin typeface="Calibri"/>
              </a:rPr>
              <a:t>↻  repeated 36× per 72-min session, feedback = metabolic cost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3749039"/>
            <a:ext cx="3520440" cy="1417320"/>
          </a:xfrm>
          <a:prstGeom prst="roundRect">
            <a:avLst>
              <a:gd name="adj" fmla="val 8000"/>
            </a:avLst>
          </a:prstGeom>
          <a:solidFill>
            <a:srgbClr val="F1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3913631"/>
            <a:ext cx="306324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 i="0">
                <a:solidFill>
                  <a:srgbClr val="EB6834"/>
                </a:solidFill>
                <a:latin typeface="Cambria"/>
              </a:rPr>
              <a:t>~1 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4617720"/>
            <a:ext cx="30632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555B66"/>
                </a:solidFill>
                <a:latin typeface="Calibri"/>
              </a:rPr>
              <a:t>to settle after every change in control law, so it is slow feedback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43400" y="3749039"/>
            <a:ext cx="3520440" cy="1417320"/>
          </a:xfrm>
          <a:prstGeom prst="roundRect">
            <a:avLst>
              <a:gd name="adj" fmla="val 8000"/>
            </a:avLst>
          </a:prstGeom>
          <a:solidFill>
            <a:srgbClr val="F1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0" y="3913631"/>
            <a:ext cx="306324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 i="0">
                <a:solidFill>
                  <a:srgbClr val="EB6834"/>
                </a:solidFill>
                <a:latin typeface="Cambria"/>
              </a:rPr>
              <a:t>≈ 5 %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4617720"/>
            <a:ext cx="30632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555B66"/>
                </a:solidFill>
                <a:latin typeface="Calibri"/>
              </a:rPr>
              <a:t>irreducible noise in the measurement (MSE floor ≈ 0.0025)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138160" y="3749039"/>
            <a:ext cx="3520440" cy="1417320"/>
          </a:xfrm>
          <a:prstGeom prst="roundRect">
            <a:avLst>
              <a:gd name="adj" fmla="val 8000"/>
            </a:avLst>
          </a:prstGeom>
          <a:solidFill>
            <a:srgbClr val="F1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66760" y="3913631"/>
            <a:ext cx="306324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 i="0">
                <a:solidFill>
                  <a:srgbClr val="EB6834"/>
                </a:solidFill>
                <a:latin typeface="Cambria"/>
              </a:rPr>
              <a:t>Lab only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66760" y="4617720"/>
            <a:ext cx="30632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555B66"/>
                </a:solidFill>
                <a:latin typeface="Calibri"/>
              </a:rPr>
              <a:t>needs a face mask, a metabolic cart and fasting subjects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5486400"/>
            <a:ext cx="110642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0F1B2D"/>
                </a:solidFill>
                <a:latin typeface="Calibri"/>
              </a:rPr>
              <a:t>Our goal: </a:t>
            </a:r>
            <a:r>
              <a:rPr sz="1700" b="0" i="0">
                <a:solidFill>
                  <a:srgbClr val="14171C"/>
                </a:solidFill>
                <a:latin typeface="Calibri"/>
              </a:rPr>
              <a:t>learn  f(EMG, gait, controls) → metabolic cost  so the mask can eventually be replaced by sensors a person could wear anywhere.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47472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2A78D6"/>
                </a:solidFill>
                <a:latin typeface="Calibri"/>
              </a:rPr>
              <a:t>DATASET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10642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0F1B2D"/>
                </a:solidFill>
                <a:latin typeface="Cambria"/>
              </a:rPr>
              <a:t>Real lab data: 2 people, 5 days, 36 assistance conditions per 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55B66"/>
                </a:solidFill>
                <a:latin typeface="Calibri"/>
              </a:rPr>
              <a:t>MetaCost · Predicting metabolic cost during HILO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19088"/>
            <a:ext cx="66751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55B66"/>
                </a:solidFill>
                <a:latin typeface="Calibri"/>
              </a:rPr>
              <a:t>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08760"/>
            <a:ext cx="1828800" cy="1417320"/>
          </a:xfrm>
          <a:prstGeom prst="roundRect">
            <a:avLst>
              <a:gd name="adj" fmla="val 8000"/>
            </a:avLst>
          </a:prstGeom>
          <a:solidFill>
            <a:srgbClr val="F1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73351"/>
            <a:ext cx="13716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400" b="1" i="0">
                <a:solidFill>
                  <a:srgbClr val="2A78D6"/>
                </a:solidFill>
                <a:latin typeface="Cambria"/>
              </a:rPr>
              <a:t>359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377439"/>
            <a:ext cx="13716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555B66"/>
                </a:solidFill>
                <a:latin typeface="Calibri"/>
              </a:rPr>
              <a:t>samples</a:t>
            </a:r>
            <a:br>
              <a:rPr sz="1300" b="0" i="0">
                <a:solidFill>
                  <a:srgbClr val="555B66"/>
                </a:solidFill>
                <a:latin typeface="Calibri"/>
              </a:rPr>
            </a:br>
            <a:r>
              <a:rPr sz="1300" b="0" i="0">
                <a:solidFill>
                  <a:srgbClr val="555B66"/>
                </a:solidFill>
                <a:latin typeface="Calibri"/>
              </a:rPr>
              <a:t>(180 + 179)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60320" y="1508760"/>
            <a:ext cx="1828800" cy="1417320"/>
          </a:xfrm>
          <a:prstGeom prst="roundRect">
            <a:avLst>
              <a:gd name="adj" fmla="val 8000"/>
            </a:avLst>
          </a:prstGeom>
          <a:solidFill>
            <a:srgbClr val="F1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88920" y="1673351"/>
            <a:ext cx="13716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400" b="1" i="0">
                <a:solidFill>
                  <a:srgbClr val="2A78D6"/>
                </a:solidFill>
                <a:latin typeface="Cambria"/>
              </a:rPr>
              <a:t>29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88920" y="2377439"/>
            <a:ext cx="13716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555B66"/>
                </a:solidFill>
                <a:latin typeface="Calibri"/>
              </a:rPr>
              <a:t>features per</a:t>
            </a:r>
            <a:br>
              <a:rPr sz="1300" b="0" i="0">
                <a:solidFill>
                  <a:srgbClr val="555B66"/>
                </a:solidFill>
                <a:latin typeface="Calibri"/>
              </a:rPr>
            </a:br>
            <a:r>
              <a:rPr sz="1300" b="0" i="0">
                <a:solidFill>
                  <a:srgbClr val="555B66"/>
                </a:solidFill>
                <a:latin typeface="Calibri"/>
              </a:rPr>
              <a:t>sample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0" y="1508760"/>
            <a:ext cx="1828800" cy="1417320"/>
          </a:xfrm>
          <a:prstGeom prst="roundRect">
            <a:avLst>
              <a:gd name="adj" fmla="val 8000"/>
            </a:avLst>
          </a:prstGeom>
          <a:solidFill>
            <a:srgbClr val="F1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1673351"/>
            <a:ext cx="13716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2A78D6"/>
                </a:solidFill>
                <a:latin typeface="Cambria"/>
              </a:rPr>
              <a:t>0.0025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377439"/>
            <a:ext cx="13716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555B66"/>
                </a:solidFill>
                <a:latin typeface="Calibri"/>
              </a:rPr>
              <a:t>noise-floor</a:t>
            </a:r>
            <a:br>
              <a:rPr sz="1300" b="0" i="0">
                <a:solidFill>
                  <a:srgbClr val="555B66"/>
                </a:solidFill>
                <a:latin typeface="Calibri"/>
              </a:rPr>
            </a:br>
            <a:r>
              <a:rPr sz="1300" b="0" i="0">
                <a:solidFill>
                  <a:srgbClr val="555B66"/>
                </a:solidFill>
                <a:latin typeface="Calibri"/>
              </a:rPr>
              <a:t>MSE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273552"/>
            <a:ext cx="256032" cy="256032"/>
          </a:xfrm>
          <a:prstGeom prst="ellipse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3200400"/>
            <a:ext cx="51206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0F1B2D"/>
                </a:solidFill>
                <a:latin typeface="Calibri"/>
              </a:rPr>
              <a:t>16  EMG</a:t>
            </a:r>
          </a:p>
          <a:p>
            <a:pPr algn="l"/>
            <a:r>
              <a:rPr sz="1300" b="0" i="0">
                <a:solidFill>
                  <a:srgbClr val="555B66"/>
                </a:solidFill>
                <a:latin typeface="Calibri"/>
              </a:rPr>
              <a:t>8 muscles per leg; band-pass → rectify → RMS, normalised each day</a:t>
            </a:r>
          </a:p>
        </p:txBody>
      </p:sp>
      <p:sp>
        <p:nvSpPr>
          <p:cNvPr id="17" name="Oval 16"/>
          <p:cNvSpPr/>
          <p:nvPr/>
        </p:nvSpPr>
        <p:spPr>
          <a:xfrm>
            <a:off x="548640" y="4050791"/>
            <a:ext cx="256032" cy="256032"/>
          </a:xfrm>
          <a:prstGeom prst="ellipse">
            <a:avLst/>
          </a:prstGeom>
          <a:solidFill>
            <a:srgbClr val="1BA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3977639"/>
            <a:ext cx="51206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0F1B2D"/>
                </a:solidFill>
                <a:latin typeface="Calibri"/>
              </a:rPr>
              <a:t>9  Step / gait</a:t>
            </a:r>
          </a:p>
          <a:p>
            <a:pPr algn="l"/>
            <a:r>
              <a:rPr sz="1300" b="0" i="0">
                <a:solidFill>
                  <a:srgbClr val="555B66"/>
                </a:solidFill>
                <a:latin typeface="Calibri"/>
              </a:rPr>
              <a:t>peak ground force, ankle dorsi/plantar-flexion, step time, step width</a:t>
            </a:r>
          </a:p>
        </p:txBody>
      </p:sp>
      <p:sp>
        <p:nvSpPr>
          <p:cNvPr id="19" name="Oval 18"/>
          <p:cNvSpPr/>
          <p:nvPr/>
        </p:nvSpPr>
        <p:spPr>
          <a:xfrm>
            <a:off x="548640" y="4828032"/>
            <a:ext cx="256032" cy="256032"/>
          </a:xfrm>
          <a:prstGeom prst="ellipse">
            <a:avLst/>
          </a:prstGeom>
          <a:solidFill>
            <a:srgbClr val="EDA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4754880"/>
            <a:ext cx="51206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0F1B2D"/>
                </a:solidFill>
                <a:latin typeface="Calibri"/>
              </a:rPr>
              <a:t>4  Control</a:t>
            </a:r>
          </a:p>
          <a:p>
            <a:pPr algn="l"/>
            <a:r>
              <a:rPr sz="1300" b="0" i="0">
                <a:solidFill>
                  <a:srgbClr val="555B66"/>
                </a:solidFill>
                <a:latin typeface="Calibri"/>
              </a:rPr>
              <a:t>exo torque profile: peak torque, peak time, rise time, fall time</a:t>
            </a:r>
          </a:p>
        </p:txBody>
      </p:sp>
      <p:sp>
        <p:nvSpPr>
          <p:cNvPr id="21" name="Oval 20"/>
          <p:cNvSpPr/>
          <p:nvPr/>
        </p:nvSpPr>
        <p:spPr>
          <a:xfrm>
            <a:off x="548640" y="5605272"/>
            <a:ext cx="256032" cy="256032"/>
          </a:xfrm>
          <a:prstGeom prst="ellipse">
            <a:avLst/>
          </a:prstGeom>
          <a:solidFill>
            <a:srgbClr val="EB68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5532120"/>
            <a:ext cx="51206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0F1B2D"/>
                </a:solidFill>
                <a:latin typeface="Calibri"/>
              </a:rPr>
              <a:t>1  Target</a:t>
            </a:r>
          </a:p>
          <a:p>
            <a:pPr algn="l"/>
            <a:r>
              <a:rPr sz="1300" b="0" i="0">
                <a:solidFill>
                  <a:srgbClr val="555B66"/>
                </a:solidFill>
                <a:latin typeface="Calibri"/>
              </a:rPr>
              <a:t>metabolic rate - standing baseline, ÷ normal walking (1.0 = no exo)</a:t>
            </a:r>
          </a:p>
        </p:txBody>
      </p:sp>
      <p:pic>
        <p:nvPicPr>
          <p:cNvPr id="23" name="Picture 22" descr="F1_dataset_overview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6629400" y="2571750"/>
            <a:ext cx="5074920" cy="25374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47472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2A78D6"/>
                </a:solidFill>
                <a:latin typeface="Calibri"/>
              </a:rPr>
              <a:t>MODELS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10642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0F1B2D"/>
                </a:solidFill>
                <a:latin typeface="Cambria"/>
              </a:rPr>
              <a:t>13 models, including the paper's network rebuilt from scratch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55B66"/>
                </a:solidFill>
                <a:latin typeface="Calibri"/>
              </a:rPr>
              <a:t>MetaCost · Predicting metabolic cost during HILO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19088"/>
            <a:ext cx="66751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55B66"/>
                </a:solidFill>
                <a:latin typeface="Calibri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08760"/>
            <a:ext cx="20116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2A78D6"/>
                </a:solidFill>
                <a:latin typeface="Calibri"/>
              </a:rPr>
              <a:t>Linear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14600" y="1508760"/>
            <a:ext cx="3657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14171C"/>
                </a:solidFill>
                <a:latin typeface="Calibri"/>
              </a:rPr>
              <a:t>OLS · LASSO · Ridge · Elastic Net · PLS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12264"/>
            <a:ext cx="20116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2A78D6"/>
                </a:solidFill>
                <a:latin typeface="Calibri"/>
              </a:rPr>
              <a:t>Kernel / instance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14600" y="2112264"/>
            <a:ext cx="3657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14171C"/>
                </a:solidFill>
                <a:latin typeface="Calibri"/>
              </a:rPr>
              <a:t>SVR (RBF) · kNN · Gaussian Process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15768"/>
            <a:ext cx="20116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2A78D6"/>
                </a:solidFill>
                <a:latin typeface="Calibri"/>
              </a:rPr>
              <a:t>Trees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14600" y="2715768"/>
            <a:ext cx="3657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14171C"/>
                </a:solidFill>
                <a:latin typeface="Calibri"/>
              </a:rPr>
              <a:t>Random Forest · Extra Trees · Gradient Boosting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319272"/>
            <a:ext cx="20116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2A78D6"/>
                </a:solidFill>
                <a:latin typeface="Calibri"/>
              </a:rPr>
              <a:t>Neural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14600" y="3319272"/>
            <a:ext cx="3657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14171C"/>
                </a:solidFill>
                <a:latin typeface="Calibri"/>
              </a:rPr>
              <a:t>Bayesian-regularised NN (trainbr)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922776"/>
            <a:ext cx="20116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2A78D6"/>
                </a:solidFill>
                <a:latin typeface="Calibri"/>
              </a:rPr>
              <a:t>Ensemble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14600" y="3922776"/>
            <a:ext cx="3657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14171C"/>
                </a:solidFill>
                <a:latin typeface="Calibri"/>
              </a:rPr>
              <a:t>average of GP + SVR + LASSO + Extra Trees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663440"/>
            <a:ext cx="5577840" cy="1554480"/>
          </a:xfrm>
          <a:prstGeom prst="roundRect">
            <a:avLst>
              <a:gd name="adj" fmla="val 8000"/>
            </a:avLst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4773168"/>
            <a:ext cx="521208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Bayesian-regularised NN, from scratch</a:t>
            </a:r>
          </a:p>
          <a:p>
            <a:pPr algn="l">
              <a:spcAft>
                <a:spcPts val="300"/>
              </a:spcAft>
            </a:pPr>
            <a:r>
              <a:rPr sz="1400" b="0" i="0">
                <a:solidFill>
                  <a:srgbClr val="BFD4F2"/>
                </a:solidFill>
                <a:latin typeface="Cambria"/>
              </a:rPr>
              <a:t>F(w) = β·E_D + α·E_W</a:t>
            </a:r>
          </a:p>
          <a:p>
            <a:pPr algn="l">
              <a:spcAft>
                <a:spcPts val="300"/>
              </a:spcAft>
            </a:pPr>
            <a:r>
              <a:rPr sz="1400" b="0" i="0">
                <a:solidFill>
                  <a:srgbClr val="BFD4F2"/>
                </a:solidFill>
                <a:latin typeface="Cambria"/>
              </a:rPr>
              <a:t>γ = P − α·tr(H⁻¹),  α = γ / 2E_W,  β = (N − γ) / 2E_D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Levenberg-Marquardt · closed-form Jacobian · picks 1-2 neurons</a:t>
            </a:r>
          </a:p>
        </p:txBody>
      </p:sp>
      <p:pic>
        <p:nvPicPr>
          <p:cNvPr id="18" name="Picture 17" descr="F3_neuron_sweep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6400800" y="2000250"/>
            <a:ext cx="5257800" cy="3680459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47472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2A78D6"/>
                </a:solidFill>
                <a:latin typeface="Calibri"/>
              </a:rPr>
              <a:t>RESULTS · RANDOM CV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10642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0F1B2D"/>
                </a:solidFill>
                <a:latin typeface="Cambria"/>
              </a:rPr>
              <a:t>Our best models: lower MSE than the paper's references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55B66"/>
                </a:solidFill>
                <a:latin typeface="Calibri"/>
              </a:rPr>
              <a:t>MetaCost · Predicting metabolic cost during HILO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19088"/>
            <a:ext cx="66751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55B66"/>
                </a:solidFill>
                <a:latin typeface="Calibri"/>
              </a:rPr>
              <a:t>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54480"/>
            <a:ext cx="2697480" cy="1417320"/>
          </a:xfrm>
          <a:prstGeom prst="roundRect">
            <a:avLst>
              <a:gd name="adj" fmla="val 8000"/>
            </a:avLst>
          </a:prstGeom>
          <a:solidFill>
            <a:srgbClr val="F1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19072"/>
            <a:ext cx="224028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800" b="1" i="0">
                <a:solidFill>
                  <a:srgbClr val="2A78D6"/>
                </a:solidFill>
                <a:latin typeface="Cambria"/>
              </a:rPr>
              <a:t>0.0079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423160"/>
            <a:ext cx="224028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555B66"/>
                </a:solidFill>
                <a:latin typeface="Calibri"/>
              </a:rPr>
              <a:t>S1, ours (ensemble)</a:t>
            </a:r>
            <a:br>
              <a:rPr sz="1300" b="0" i="0">
                <a:solidFill>
                  <a:srgbClr val="555B66"/>
                </a:solidFill>
                <a:latin typeface="Calibri"/>
              </a:rPr>
            </a:br>
            <a:r>
              <a:rPr sz="1300" b="0" i="0">
                <a:solidFill>
                  <a:srgbClr val="555B66"/>
                </a:solidFill>
                <a:latin typeface="Calibri"/>
              </a:rPr>
              <a:t>paper ref.: 0.0089 (lin. reg.)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29000" y="1554480"/>
            <a:ext cx="2697480" cy="1417320"/>
          </a:xfrm>
          <a:prstGeom prst="roundRect">
            <a:avLst>
              <a:gd name="adj" fmla="val 8000"/>
            </a:avLst>
          </a:prstGeom>
          <a:solidFill>
            <a:srgbClr val="F1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0" y="1719072"/>
            <a:ext cx="224028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800" b="1" i="0">
                <a:solidFill>
                  <a:srgbClr val="2A78D6"/>
                </a:solidFill>
                <a:latin typeface="Cambria"/>
              </a:rPr>
              <a:t>R² 0.88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0" y="2423160"/>
            <a:ext cx="224028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555B66"/>
                </a:solidFill>
                <a:latin typeface="Calibri"/>
              </a:rPr>
              <a:t>S1 variance explained</a:t>
            </a:r>
            <a:br>
              <a:rPr sz="1300" b="0" i="0">
                <a:solidFill>
                  <a:srgbClr val="555B66"/>
                </a:solidFill>
                <a:latin typeface="Calibri"/>
              </a:rPr>
            </a:br>
            <a:r>
              <a:rPr sz="1300" b="0" i="0">
                <a:solidFill>
                  <a:srgbClr val="555B66"/>
                </a:solidFill>
                <a:latin typeface="Calibri"/>
              </a:rPr>
              <a:t>(out-of-fold)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154680"/>
            <a:ext cx="2697480" cy="1417320"/>
          </a:xfrm>
          <a:prstGeom prst="roundRect">
            <a:avLst>
              <a:gd name="adj" fmla="val 8000"/>
            </a:avLst>
          </a:prstGeom>
          <a:solidFill>
            <a:srgbClr val="F1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319272"/>
            <a:ext cx="224028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800" b="1" i="0">
                <a:solidFill>
                  <a:srgbClr val="EB6834"/>
                </a:solidFill>
                <a:latin typeface="Cambria"/>
              </a:rPr>
              <a:t>0.0109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023360"/>
            <a:ext cx="224028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555B66"/>
                </a:solidFill>
                <a:latin typeface="Calibri"/>
              </a:rPr>
              <a:t>S2, ours (SVR)</a:t>
            </a:r>
            <a:br>
              <a:rPr sz="1300" b="0" i="0">
                <a:solidFill>
                  <a:srgbClr val="555B66"/>
                </a:solidFill>
                <a:latin typeface="Calibri"/>
              </a:rPr>
            </a:br>
            <a:r>
              <a:rPr sz="1300" b="0" i="0">
                <a:solidFill>
                  <a:srgbClr val="555B66"/>
                </a:solidFill>
                <a:latin typeface="Calibri"/>
              </a:rPr>
              <a:t>paper ref.: 0.0168 (lin. reg.)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29000" y="3154680"/>
            <a:ext cx="2697480" cy="1417320"/>
          </a:xfrm>
          <a:prstGeom prst="roundRect">
            <a:avLst>
              <a:gd name="adj" fmla="val 8000"/>
            </a:avLst>
          </a:prstGeom>
          <a:solidFill>
            <a:srgbClr val="F1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0" y="3319272"/>
            <a:ext cx="224028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800" b="1" i="0">
                <a:solidFill>
                  <a:srgbClr val="EB6834"/>
                </a:solidFill>
                <a:latin typeface="Cambria"/>
              </a:rPr>
              <a:t>R² 0.71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4023360"/>
            <a:ext cx="224028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555B66"/>
                </a:solidFill>
                <a:latin typeface="Calibri"/>
              </a:rPr>
              <a:t>S2 variance explained</a:t>
            </a:r>
            <a:br>
              <a:rPr sz="1300" b="0" i="0">
                <a:solidFill>
                  <a:srgbClr val="555B66"/>
                </a:solidFill>
                <a:latin typeface="Calibri"/>
              </a:rPr>
            </a:br>
            <a:r>
              <a:rPr sz="1300" b="0" i="0">
                <a:solidFill>
                  <a:srgbClr val="555B66"/>
                </a:solidFill>
                <a:latin typeface="Calibri"/>
              </a:rPr>
              <a:t>(out-of-fold)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754880"/>
            <a:ext cx="5577840" cy="1417320"/>
          </a:xfrm>
          <a:prstGeom prst="roundRect">
            <a:avLst>
              <a:gd name="adj" fmla="val 8000"/>
            </a:avLst>
          </a:prstGeom>
          <a:solidFill>
            <a:srgbClr val="F1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4864608"/>
            <a:ext cx="5120640" cy="1234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0F1B2D"/>
                </a:solidFill>
                <a:latin typeface="Calibri"/>
              </a:rPr>
              <a:t>Not a like-for-like comparison. </a:t>
            </a:r>
            <a:r>
              <a:rPr sz="1300" b="0" i="0">
                <a:solidFill>
                  <a:srgbClr val="555B66"/>
                </a:solidFill>
                <a:latin typeface="Calibri"/>
              </a:rPr>
              <a:t>Ours: best of 13 models, repeated nested 5-fold CV. Paper: linear regression under its own 10-fold CV. Unseen-day validation (next slides) shows the remaining challenge.</a:t>
            </a:r>
          </a:p>
        </p:txBody>
      </p:sp>
      <p:pic>
        <p:nvPicPr>
          <p:cNvPr id="20" name="Picture 19" descr="F6_pred_vs_actual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6400800" y="2584450"/>
            <a:ext cx="5257800" cy="251205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47472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2A78D6"/>
                </a:solidFill>
                <a:latin typeface="Calibri"/>
              </a:rPr>
              <a:t>RESULTS · VALIDATION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10642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0F1B2D"/>
                </a:solidFill>
                <a:latin typeface="Cambria"/>
              </a:rPr>
              <a:t>Random splits flatter models: unseen days are the real test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55B66"/>
                </a:solidFill>
                <a:latin typeface="Calibri"/>
              </a:rPr>
              <a:t>MetaCost · Predicting metabolic cost during HILO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19088"/>
            <a:ext cx="66751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55B66"/>
                </a:solidFill>
                <a:latin typeface="Calibri"/>
              </a:rPr>
              <a:t>7</a:t>
            </a:r>
          </a:p>
        </p:txBody>
      </p:sp>
      <p:pic>
        <p:nvPicPr>
          <p:cNvPr id="6" name="Picture 5" descr="F4_model_zoo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990600" y="2503794"/>
            <a:ext cx="7680960" cy="418961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366760" y="1645920"/>
            <a:ext cx="333756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500" b="1">
                <a:solidFill>
                  <a:srgbClr val="2A78D6"/>
                </a:solidFill>
                <a:latin typeface="Calibri"/>
              </a:rPr>
              <a:t>▸  </a:t>
            </a:r>
            <a:r>
              <a:rPr sz="1500" b="1">
                <a:solidFill>
                  <a:srgbClr val="14171C"/>
                </a:solidFill>
                <a:latin typeface="Calibri"/>
              </a:rPr>
              <a:t>Random CV: </a:t>
            </a:r>
            <a:r>
              <a:rPr sz="1500" b="0">
                <a:solidFill>
                  <a:srgbClr val="14171C"/>
                </a:solidFill>
                <a:latin typeface="Calibri"/>
              </a:rPr>
              <a:t>GP, SVR and the ensemble lead (MSE ≈ 0.008-0.011)</a:t>
            </a: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2A78D6"/>
                </a:solidFill>
                <a:latin typeface="Calibri"/>
              </a:rPr>
              <a:t>▸  </a:t>
            </a:r>
            <a:r>
              <a:rPr sz="1500" b="1">
                <a:solidFill>
                  <a:srgbClr val="14171C"/>
                </a:solidFill>
                <a:latin typeface="Calibri"/>
              </a:rPr>
              <a:t>Unseen day: </a:t>
            </a:r>
            <a:r>
              <a:rPr sz="1500" b="0">
                <a:solidFill>
                  <a:srgbClr val="14171C"/>
                </a:solidFill>
                <a:latin typeface="Calibri"/>
              </a:rPr>
              <a:t>error roughly doubles</a:t>
            </a: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2A78D6"/>
                </a:solidFill>
                <a:latin typeface="Calibri"/>
              </a:rPr>
              <a:t>▸  </a:t>
            </a:r>
            <a:r>
              <a:rPr sz="1500" b="1">
                <a:solidFill>
                  <a:srgbClr val="14171C"/>
                </a:solidFill>
                <a:latin typeface="Calibri"/>
              </a:rPr>
              <a:t>Simple wins across days: </a:t>
            </a:r>
            <a:r>
              <a:rPr sz="1500" b="0">
                <a:solidFill>
                  <a:srgbClr val="14171C"/>
                </a:solidFill>
                <a:latin typeface="Calibri"/>
              </a:rPr>
              <a:t>PLS / Ridge reach 0.0145 on S1</a:t>
            </a: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2A78D6"/>
                </a:solidFill>
                <a:latin typeface="Calibri"/>
              </a:rPr>
              <a:t>▸  </a:t>
            </a:r>
            <a:r>
              <a:rPr sz="1500" b="1">
                <a:solidFill>
                  <a:srgbClr val="14171C"/>
                </a:solidFill>
                <a:latin typeface="Calibri"/>
              </a:rPr>
              <a:t>Trees &amp; kNN </a:t>
            </a:r>
            <a:r>
              <a:rPr sz="1500" b="0">
                <a:solidFill>
                  <a:srgbClr val="14171C"/>
                </a:solidFill>
                <a:latin typeface="Calibri"/>
              </a:rPr>
              <a:t>overfit within-day structure</a:t>
            </a: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2A78D6"/>
                </a:solidFill>
                <a:latin typeface="Calibri"/>
              </a:rPr>
              <a:t>▸  </a:t>
            </a:r>
            <a:r>
              <a:rPr sz="1500" b="1">
                <a:solidFill>
                  <a:srgbClr val="EB6834"/>
                </a:solidFill>
                <a:latin typeface="Calibri"/>
              </a:rPr>
              <a:t>Lesson: </a:t>
            </a:r>
            <a:r>
              <a:rPr sz="1500" b="0">
                <a:solidFill>
                  <a:srgbClr val="14171C"/>
                </a:solidFill>
                <a:latin typeface="Calibri"/>
              </a:rPr>
              <a:t>report the protocol that matches deployment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47472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2A78D6"/>
                </a:solidFill>
                <a:latin typeface="Calibri"/>
              </a:rPr>
              <a:t>RESULTS · GENERALISATION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10642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0F1B2D"/>
                </a:solidFill>
                <a:latin typeface="Cambria"/>
              </a:rPr>
              <a:t>Predicting a session the model has never seen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55B66"/>
                </a:solidFill>
                <a:latin typeface="Calibri"/>
              </a:rPr>
              <a:t>MetaCost · Predicting metabolic cost during HILO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19088"/>
            <a:ext cx="66751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55B66"/>
                </a:solidFill>
                <a:latin typeface="Calibri"/>
              </a:rPr>
              <a:t>8</a:t>
            </a:r>
          </a:p>
        </p:txBody>
      </p:sp>
      <p:pic>
        <p:nvPicPr>
          <p:cNvPr id="6" name="Picture 5" descr="F5_unseen_day_timeline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457200" y="1717243"/>
            <a:ext cx="7863840" cy="4246473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549640" y="1463040"/>
            <a:ext cx="3108960" cy="1417320"/>
          </a:xfrm>
          <a:prstGeom prst="roundRect">
            <a:avLst>
              <a:gd name="adj" fmla="val 8000"/>
            </a:avLst>
          </a:prstGeom>
          <a:solidFill>
            <a:srgbClr val="F1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0" y="1627632"/>
            <a:ext cx="26517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1" i="0">
                <a:solidFill>
                  <a:srgbClr val="2A78D6"/>
                </a:solidFill>
                <a:latin typeface="Cambria"/>
              </a:rPr>
              <a:t>≈ 12 %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0" y="2331720"/>
            <a:ext cx="265176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555B66"/>
                </a:solidFill>
                <a:latin typeface="Calibri"/>
              </a:rPr>
              <a:t>S1 unseen-day error, best model (OLS, MSE 0.014, R² 0.79)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49640" y="3063240"/>
            <a:ext cx="3108960" cy="1417320"/>
          </a:xfrm>
          <a:prstGeom prst="roundRect">
            <a:avLst>
              <a:gd name="adj" fmla="val 8000"/>
            </a:avLst>
          </a:prstGeom>
          <a:solidFill>
            <a:srgbClr val="F1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0" y="3227832"/>
            <a:ext cx="26517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400" b="1" i="0">
                <a:solidFill>
                  <a:srgbClr val="2A78D6"/>
                </a:solidFill>
                <a:latin typeface="Cambria"/>
              </a:rPr>
              <a:t>ρ ≈ 0.62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0" y="3931920"/>
            <a:ext cx="265176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555B66"/>
                </a:solidFill>
                <a:latin typeface="Calibri"/>
              </a:rPr>
              <a:t>within-day rank correlation (S1), what the optimiser needs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549640" y="4663440"/>
            <a:ext cx="3108960" cy="1417320"/>
          </a:xfrm>
          <a:prstGeom prst="roundRect">
            <a:avLst>
              <a:gd name="adj" fmla="val 8000"/>
            </a:avLst>
          </a:prstGeom>
          <a:solidFill>
            <a:srgbClr val="F1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778240" y="4828031"/>
            <a:ext cx="26517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1" i="0">
                <a:solidFill>
                  <a:srgbClr val="EB6834"/>
                </a:solidFill>
                <a:latin typeface="Cambria"/>
              </a:rPr>
              <a:t>≈ 16 %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0" y="5532120"/>
            <a:ext cx="265176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555B66"/>
                </a:solidFill>
                <a:latin typeface="Calibri"/>
              </a:rPr>
              <a:t>S2 unseen-day error, best model (Grad. Boosting, MSE 0.026); GP shown: 0.046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47472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2A78D6"/>
                </a:solidFill>
                <a:latin typeface="Calibri"/>
              </a:rPr>
              <a:t>RESULTS · INTERPRETABILITY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10642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0F1B2D"/>
                </a:solidFill>
                <a:latin typeface="Cambria"/>
              </a:rPr>
              <a:t>EMG carries the signal, and a few muscles do most of the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55B66"/>
                </a:solidFill>
                <a:latin typeface="Calibri"/>
              </a:rPr>
              <a:t>MetaCost · Predicting metabolic cost during HILO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19088"/>
            <a:ext cx="66751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55B66"/>
                </a:solidFill>
                <a:latin typeface="Calibri"/>
              </a:rPr>
              <a:t>9</a:t>
            </a:r>
          </a:p>
        </p:txBody>
      </p:sp>
      <p:pic>
        <p:nvPicPr>
          <p:cNvPr id="6" name="Picture 5" descr="F8_feature_importance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457200" y="1405682"/>
            <a:ext cx="7589520" cy="3863755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321040" y="1508760"/>
          <a:ext cx="373380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8760"/>
                <a:gridCol w="1112520"/>
                <a:gridCol w="1112520"/>
              </a:tblGrid>
              <a:tr h="420624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Feature set</a:t>
                      </a:r>
                    </a:p>
                  </a:txBody>
                  <a:tcPr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S1 GP</a:t>
                      </a:r>
                    </a:p>
                  </a:txBody>
                  <a:tcPr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S2 GP</a:t>
                      </a:r>
                    </a:p>
                  </a:txBody>
                  <a:tcPr>
                    <a:solidFill>
                      <a:srgbClr val="0F1B2D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171C"/>
                          </a:solidFill>
                          <a:latin typeface="Calibri"/>
                        </a:rPr>
                        <a:t>All features</a:t>
                      </a:r>
                    </a:p>
                  </a:txBody>
                  <a:tcPr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171C"/>
                          </a:solidFill>
                          <a:latin typeface="Calibri"/>
                        </a:rPr>
                        <a:t>0.0081</a:t>
                      </a:r>
                    </a:p>
                  </a:txBody>
                  <a:tcPr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171C"/>
                          </a:solidFill>
                          <a:latin typeface="Calibri"/>
                        </a:rPr>
                        <a:t>0.0129</a:t>
                      </a:r>
                    </a:p>
                  </a:txBody>
                  <a:tcPr>
                    <a:solidFill>
                      <a:srgbClr val="F1F5FB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171C"/>
                          </a:solidFill>
                          <a:latin typeface="Calibri"/>
                        </a:rPr>
                        <a:t>Step + EMG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171C"/>
                          </a:solidFill>
                          <a:latin typeface="Calibri"/>
                        </a:rPr>
                        <a:t>0.0090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171C"/>
                          </a:solidFill>
                          <a:latin typeface="Calibri"/>
                        </a:rPr>
                        <a:t>0.0120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171C"/>
                          </a:solidFill>
                          <a:latin typeface="Calibri"/>
                        </a:rPr>
                        <a:t>EMG only</a:t>
                      </a:r>
                    </a:p>
                  </a:txBody>
                  <a:tcPr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171C"/>
                          </a:solidFill>
                          <a:latin typeface="Calibri"/>
                        </a:rPr>
                        <a:t>0.0107</a:t>
                      </a:r>
                    </a:p>
                  </a:txBody>
                  <a:tcPr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171C"/>
                          </a:solidFill>
                          <a:latin typeface="Calibri"/>
                        </a:rPr>
                        <a:t>0.0146</a:t>
                      </a:r>
                    </a:p>
                  </a:txBody>
                  <a:tcPr>
                    <a:solidFill>
                      <a:srgbClr val="F1F5FB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171C"/>
                          </a:solidFill>
                          <a:latin typeface="Calibri"/>
                        </a:rPr>
                        <a:t>Step only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171C"/>
                          </a:solidFill>
                          <a:latin typeface="Calibri"/>
                        </a:rPr>
                        <a:t>0.0151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171C"/>
                          </a:solidFill>
                          <a:latin typeface="Calibri"/>
                        </a:rPr>
                        <a:t>0.0141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321040" y="3703320"/>
            <a:ext cx="3337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1">
                <a:solidFill>
                  <a:srgbClr val="555B66"/>
                </a:solidFill>
                <a:latin typeface="Calibri"/>
              </a:rPr>
              <a:t>Feature-set ablation (CV MSE)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486400"/>
            <a:ext cx="111556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2A78D6"/>
                </a:solidFill>
                <a:latin typeface="Calibri"/>
              </a:rPr>
              <a:t>▸  </a:t>
            </a:r>
            <a:r>
              <a:rPr sz="1500" b="1">
                <a:solidFill>
                  <a:srgbClr val="14171C"/>
                </a:solidFill>
                <a:latin typeface="Calibri"/>
              </a:rPr>
              <a:t>EMG is the strongest group in grouped importance </a:t>
            </a:r>
            <a:r>
              <a:rPr sz="1500" b="0">
                <a:solidFill>
                  <a:srgbClr val="14171C"/>
                </a:solidFill>
                <a:latin typeface="Calibri"/>
              </a:rPr>
              <a:t>for both subjects. The ablation is a different test: for S2 (GP) step-only ≈ EMG-only (0.0141 vs 0.0146).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47472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2A78D6"/>
                </a:solidFill>
                <a:latin typeface="Calibri"/>
              </a:rPr>
              <a:t>IMPROVEMENTS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10642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0F1B2D"/>
                </a:solidFill>
                <a:latin typeface="Cambria"/>
              </a:rPr>
              <a:t>Reducing unseen-day error with just 3 mask spot-checks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55B66"/>
                </a:solidFill>
                <a:latin typeface="Calibri"/>
              </a:rPr>
              <a:t>MetaCost · Predicting metabolic cost during HILO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19088"/>
            <a:ext cx="66751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55B66"/>
                </a:solidFill>
                <a:latin typeface="Calibri"/>
              </a:rPr>
              <a:t>10</a:t>
            </a:r>
          </a:p>
        </p:txBody>
      </p:sp>
      <p:pic>
        <p:nvPicPr>
          <p:cNvPr id="6" name="Picture 5" descr="F14_day_calibration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457200" y="1691640"/>
            <a:ext cx="5715000" cy="2286000"/>
          </a:xfrm>
          <a:prstGeom prst="rect">
            <a:avLst/>
          </a:prstGeom>
        </p:spPr>
      </p:pic>
      <p:pic>
        <p:nvPicPr>
          <p:cNvPr id="7" name="Picture 6" descr="F15_sensor_reduction.png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6172200" y="1719072"/>
            <a:ext cx="5577840" cy="2231136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48640" y="4526280"/>
            <a:ext cx="3566160" cy="1417320"/>
          </a:xfrm>
          <a:prstGeom prst="roundRect">
            <a:avLst>
              <a:gd name="adj" fmla="val 8000"/>
            </a:avLst>
          </a:prstGeom>
          <a:solidFill>
            <a:srgbClr val="F1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4690872"/>
            <a:ext cx="31089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400" b="1" i="0">
                <a:solidFill>
                  <a:srgbClr val="EB6834"/>
                </a:solidFill>
                <a:latin typeface="Cambria"/>
              </a:rPr>
              <a:t>−51 %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394960"/>
            <a:ext cx="310896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555B66"/>
                </a:solidFill>
                <a:latin typeface="Calibri"/>
              </a:rPr>
              <a:t>S2 unseen-day error with just 3 of 36 mask spot-checks (GP 0.046 → 0.022)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15968" y="4526280"/>
            <a:ext cx="3566160" cy="1417320"/>
          </a:xfrm>
          <a:prstGeom prst="roundRect">
            <a:avLst>
              <a:gd name="adj" fmla="val 8000"/>
            </a:avLst>
          </a:prstGeom>
          <a:solidFill>
            <a:srgbClr val="F1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44568" y="4690872"/>
            <a:ext cx="31089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0F1B2D"/>
                </a:solidFill>
                <a:latin typeface="Cambria"/>
              </a:rPr>
              <a:t>w = k/(k+σ²/τ²)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44568" y="5394960"/>
            <a:ext cx="310896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555B66"/>
                </a:solidFill>
                <a:latin typeface="Calibri"/>
              </a:rPr>
              <a:t>empirical-Bayes shrinkage: trusts calibration only as much as the training days justify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92440" y="4526280"/>
            <a:ext cx="3566160" cy="1417320"/>
          </a:xfrm>
          <a:prstGeom prst="roundRect">
            <a:avLst>
              <a:gd name="adj" fmla="val 8000"/>
            </a:avLst>
          </a:prstGeom>
          <a:solidFill>
            <a:srgbClr val="F1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21040" y="4690872"/>
            <a:ext cx="31089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400" b="1" i="0">
                <a:solidFill>
                  <a:srgbClr val="1BAF7A"/>
                </a:solidFill>
                <a:latin typeface="Cambria"/>
              </a:rPr>
              <a:t>4 of 16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5394960"/>
            <a:ext cx="310896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555B66"/>
                </a:solidFill>
                <a:latin typeface="Calibri"/>
              </a:rPr>
              <a:t>EMG electrodes beat all 16 for S2 (unseen-day Ridge 0.036 → 0.024)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1097280"/>
            <a:ext cx="109728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mbria"/>
              </a:rP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14884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0" i="0">
                <a:solidFill>
                  <a:srgbClr val="BFD4F2"/>
                </a:solidFill>
                <a:latin typeface="Calibri"/>
              </a:rPr>
              <a:t>Code, data, figures and the 2-page write-up are in the private GitHub repository.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91840"/>
            <a:ext cx="109728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Mukil Skanda A</a:t>
            </a:r>
            <a:r>
              <a:rPr sz="2000" b="0" i="0">
                <a:solidFill>
                  <a:srgbClr val="BFD4F2"/>
                </a:solidFill>
                <a:latin typeface="Calibri"/>
              </a:rPr>
              <a:t>  ·  PES1UG24CS281</a:t>
            </a:r>
          </a:p>
          <a:p>
            <a:pPr algn="l">
              <a:spcAft>
                <a:spcPts val="8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Likhith M</a:t>
            </a:r>
            <a:r>
              <a:rPr sz="2000" b="0" i="0">
                <a:solidFill>
                  <a:srgbClr val="BFD4F2"/>
                </a:solidFill>
                <a:latin typeface="Calibri"/>
              </a:rPr>
              <a:t>  ·  PES1UG24CS282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760720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BFD4F2"/>
                </a:solidFill>
                <a:latin typeface="Calibri"/>
              </a:rPr>
              <a:t>Ref: Krimsky &amp; Ng, CS229 2018 · Zhang et al., Science 2017 · MacKay 1992 · Rasmussen &amp; Williams 2006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47472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2A78D6"/>
                </a:solidFill>
                <a:latin typeface="Calibri"/>
              </a:rPr>
              <a:t>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10642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0F1B2D"/>
                </a:solidFill>
                <a:latin typeface="Cambria"/>
              </a:rPr>
              <a:t>Live demo: the code, running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55B66"/>
                </a:solidFill>
                <a:latin typeface="Calibri"/>
              </a:rPr>
              <a:t>MetaCost · Predicting metabolic cost during HILO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19088"/>
            <a:ext cx="66751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55B66"/>
                </a:solidFill>
                <a:latin typeface="Calibri"/>
              </a:rPr>
              <a:t>11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508760"/>
            <a:ext cx="457200" cy="457200"/>
          </a:xfrm>
          <a:prstGeom prst="ellipse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1554480"/>
            <a:ext cx="29260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0F1B2D"/>
                </a:solidFill>
                <a:latin typeface="Calibri"/>
              </a:rPr>
              <a:t>Baseline (paper port)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148840"/>
            <a:ext cx="3520440" cy="3566160"/>
          </a:xfrm>
          <a:prstGeom prst="roundRect">
            <a:avLst>
              <a:gd name="adj" fmla="val 5000"/>
            </a:avLst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286000"/>
            <a:ext cx="32004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BFD4F2"/>
                </a:solidFill>
                <a:latin typeface="Courier New"/>
              </a:rPr>
              <a:t>$ python paper_reproduction/lin_reg_test.py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154680"/>
            <a:ext cx="3200400" cy="2468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ourier New"/>
              </a:rPr>
              <a:t>Linear Regression 5-Fold CV</a:t>
            </a:r>
          </a:p>
          <a:p>
            <a:pPr algn="l"/>
            <a:r>
              <a:rPr sz="1200" b="0" i="0">
                <a:solidFill>
                  <a:srgbClr val="FFFFFF"/>
                </a:solidFill>
                <a:latin typeface="Courier New"/>
              </a:rPr>
              <a:t>Mean MSE: 0.010700</a:t>
            </a:r>
          </a:p>
          <a:p>
            <a:pPr algn="l"/>
            <a:r>
              <a:rPr sz="1200" b="0" i="0">
                <a:solidFill>
                  <a:srgbClr val="FFFFFF"/>
                </a:solidFill>
                <a:latin typeface="Courier New"/>
              </a:rPr>
              <a:t>Mean R² : 0.8349</a:t>
            </a:r>
          </a:p>
        </p:txBody>
      </p:sp>
      <p:sp>
        <p:nvSpPr>
          <p:cNvPr id="11" name="Oval 10"/>
          <p:cNvSpPr/>
          <p:nvPr/>
        </p:nvSpPr>
        <p:spPr>
          <a:xfrm>
            <a:off x="4297679" y="1508760"/>
            <a:ext cx="457200" cy="457200"/>
          </a:xfrm>
          <a:prstGeom prst="ellipse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92040" y="1554480"/>
            <a:ext cx="29260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0F1B2D"/>
                </a:solidFill>
                <a:latin typeface="Calibri"/>
              </a:rPr>
              <a:t>Predict unseen days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79" y="2148840"/>
            <a:ext cx="3520440" cy="3566160"/>
          </a:xfrm>
          <a:prstGeom prst="roundRect">
            <a:avLst>
              <a:gd name="adj" fmla="val 5000"/>
            </a:avLst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80559" y="2286000"/>
            <a:ext cx="32004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BFD4F2"/>
                </a:solidFill>
                <a:latin typeface="Courier New"/>
              </a:rPr>
              <a:t>$ python scripts/predict.py --demo --subject S1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59" y="3154680"/>
            <a:ext cx="3200400" cy="2468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ourier New"/>
              </a:rPr>
              <a:t>day      MSE   %err      r</a:t>
            </a:r>
          </a:p>
          <a:p>
            <a:pPr algn="l"/>
            <a:r>
              <a:rPr sz="1200" b="0" i="0">
                <a:solidFill>
                  <a:srgbClr val="FFFFFF"/>
                </a:solidFill>
                <a:latin typeface="Courier New"/>
              </a:rPr>
              <a:t>  1   0.0286  16.9%   0.82</a:t>
            </a:r>
          </a:p>
          <a:p>
            <a:pPr algn="l"/>
            <a:r>
              <a:rPr sz="1200" b="0" i="0">
                <a:solidFill>
                  <a:srgbClr val="FFFFFF"/>
                </a:solidFill>
                <a:latin typeface="Courier New"/>
              </a:rPr>
              <a:t>  2   0.0191  13.8%   0.49</a:t>
            </a:r>
          </a:p>
          <a:p>
            <a:pPr algn="l"/>
            <a:r>
              <a:rPr sz="1200" b="0" i="0">
                <a:solidFill>
                  <a:srgbClr val="FFFFFF"/>
                </a:solidFill>
                <a:latin typeface="Courier New"/>
              </a:rPr>
              <a:t>  3   0.0132  11.5%   0.64</a:t>
            </a:r>
          </a:p>
          <a:p>
            <a:pPr algn="l"/>
            <a:r>
              <a:rPr sz="1200" b="0" i="0">
                <a:solidFill>
                  <a:srgbClr val="FFFFFF"/>
                </a:solidFill>
                <a:latin typeface="Courier New"/>
              </a:rPr>
              <a:t>  4   0.0119  10.9%   0.61</a:t>
            </a:r>
          </a:p>
          <a:p>
            <a:pPr algn="l"/>
            <a:r>
              <a:rPr sz="1200" b="0" i="0">
                <a:solidFill>
                  <a:srgbClr val="FFFFFF"/>
                </a:solidFill>
                <a:latin typeface="Courier New"/>
              </a:rPr>
              <a:t>  5   0.0149  12.2%   0.67</a:t>
            </a:r>
          </a:p>
        </p:txBody>
      </p:sp>
      <p:sp>
        <p:nvSpPr>
          <p:cNvPr id="16" name="Oval 15"/>
          <p:cNvSpPr/>
          <p:nvPr/>
        </p:nvSpPr>
        <p:spPr>
          <a:xfrm>
            <a:off x="8046719" y="1508760"/>
            <a:ext cx="457200" cy="457200"/>
          </a:xfrm>
          <a:prstGeom prst="ellipse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41080" y="1554480"/>
            <a:ext cx="29260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0F1B2D"/>
                </a:solidFill>
                <a:latin typeface="Calibri"/>
              </a:rPr>
              <a:t>Automated tests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46719" y="2148840"/>
            <a:ext cx="3520440" cy="3566160"/>
          </a:xfrm>
          <a:prstGeom prst="roundRect">
            <a:avLst>
              <a:gd name="adj" fmla="val 5000"/>
            </a:avLst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599" y="2286000"/>
            <a:ext cx="32004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BFD4F2"/>
                </a:solidFill>
                <a:latin typeface="Courier New"/>
              </a:rPr>
              <a:t>$ python -m pytest -q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599" y="3154680"/>
            <a:ext cx="3200400" cy="2468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ourier New"/>
              </a:rPr>
              <a:t>..........</a:t>
            </a:r>
          </a:p>
          <a:p>
            <a:pPr algn="l"/>
            <a:r>
              <a:rPr sz="1200" b="0" i="0">
                <a:solidFill>
                  <a:srgbClr val="FFFFFF"/>
                </a:solidFill>
                <a:latin typeface="Courier New"/>
              </a:rPr>
              <a:t>10 passed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852160"/>
            <a:ext cx="110642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1">
                <a:solidFill>
                  <a:srgbClr val="555B66"/>
                </a:solidFill>
                <a:latin typeface="Calibri"/>
              </a:rPr>
              <a:t>1 = the paper's linear-regression baseline (S1 MSE 0.0107; paper reports 0.0089 with its own folds). Our best model (slide 6) reaches 0.0079.  ·  Run from the ML proj folder, under a minute.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50292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BFD4F2"/>
                </a:solidFill>
                <a:latin typeface="Calibri"/>
              </a:rPr>
              <a:t>CONCLUSIONS &amp; FUTURE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22960"/>
            <a:ext cx="109728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mbria"/>
              </a:rPr>
              <a:t>Wearable signals can reduce dependence on metabolic measurements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965960"/>
            <a:ext cx="5440680" cy="1234440"/>
          </a:xfrm>
          <a:prstGeom prst="roundRect">
            <a:avLst>
              <a:gd name="adj" fmla="val 8000"/>
            </a:avLst>
          </a:prstGeom>
          <a:solidFill>
            <a:srgbClr val="1C2C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148840"/>
            <a:ext cx="146304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000" b="1" i="0">
                <a:solidFill>
                  <a:srgbClr val="EB6834"/>
                </a:solidFill>
                <a:latin typeface="Cambria"/>
              </a:rPr>
              <a:t>9-10 %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31720" y="2121408"/>
            <a:ext cx="3474720" cy="9601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error within a session from EMG + gait (mean baseline: 19-26 %)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965960"/>
            <a:ext cx="5440680" cy="1234440"/>
          </a:xfrm>
          <a:prstGeom prst="roundRect">
            <a:avLst>
              <a:gd name="adj" fmla="val 8000"/>
            </a:avLst>
          </a:prstGeom>
          <a:solidFill>
            <a:srgbClr val="1C2C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2148840"/>
            <a:ext cx="146304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000" b="1" i="0">
                <a:solidFill>
                  <a:srgbClr val="EB6834"/>
                </a:solidFill>
                <a:latin typeface="Cambria"/>
              </a:rPr>
              <a:t>2×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01000" y="2121408"/>
            <a:ext cx="3474720" cy="9601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error on a new day; 3 mask spot-checks cut S2's by 51 % on this small dataset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383280"/>
            <a:ext cx="5440680" cy="1234440"/>
          </a:xfrm>
          <a:prstGeom prst="roundRect">
            <a:avLst>
              <a:gd name="adj" fmla="val 8000"/>
            </a:avLst>
          </a:prstGeom>
          <a:solidFill>
            <a:srgbClr val="1C2C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3566160"/>
            <a:ext cx="146304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000" b="1" i="0">
                <a:solidFill>
                  <a:srgbClr val="EB6834"/>
                </a:solidFill>
                <a:latin typeface="Cambria"/>
              </a:rPr>
              <a:t>EMG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31720" y="3538728"/>
            <a:ext cx="3474720" cy="9601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is the key signal; 4 of 16 electrodes beat all 16 for S2, so cheaper hardware is possible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3383280"/>
            <a:ext cx="5440680" cy="1234440"/>
          </a:xfrm>
          <a:prstGeom prst="roundRect">
            <a:avLst>
              <a:gd name="adj" fmla="val 8000"/>
            </a:avLst>
          </a:prstGeom>
          <a:solidFill>
            <a:srgbClr val="1C2C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146304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000" b="1" i="0">
                <a:solidFill>
                  <a:srgbClr val="EB6834"/>
                </a:solidFill>
                <a:latin typeface="Cambria"/>
              </a:rPr>
              <a:t>1 :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01000" y="3538728"/>
            <a:ext cx="3474720" cy="9601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models must be subject-specific; cross-person transfer is worse than the mean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98348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Next steps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5394960"/>
            <a:ext cx="3520440" cy="822960"/>
          </a:xfrm>
          <a:prstGeom prst="roundRect">
            <a:avLst>
              <a:gd name="adj" fmla="val 8000"/>
            </a:avLst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5394960"/>
            <a:ext cx="315468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Validate on more subjects, with anthropometrics + IMU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97679" y="5394960"/>
            <a:ext cx="3520440" cy="822960"/>
          </a:xfrm>
          <a:prstGeom prst="roundRect">
            <a:avLst>
              <a:gd name="adj" fmla="val 8000"/>
            </a:avLst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80559" y="5394960"/>
            <a:ext cx="315468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Test spot-check calibration in real HILO sessions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46719" y="5394960"/>
            <a:ext cx="3520440" cy="822960"/>
          </a:xfrm>
          <a:prstGeom prst="roundRect">
            <a:avLst>
              <a:gd name="adj" fmla="val 8000"/>
            </a:avLst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599" y="5394960"/>
            <a:ext cx="315468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Use the surrogate as a prior inside CMA-ES / Bayesian optimisation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>
          <a:solidFill>
            <a:schemeClr val="phClr"/>
          </a:solidFill>
          <a:prstDash val="solid"/>
        </a:ln>
        <a:ln w="38100" cap="flat" cmpd="sng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algn="b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algn="b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algn="b" rotWithShape="0">
              <a:srgbClr val="000000">
                <a:alpha val="35000"/>
              </a:srgbClr>
            </a:outerShdw>
          </a:effectLst>
          <a:scene3d xmlns:a="http://schemas.openxmlformats.org/drawingml/2006/main"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 xmlns:a="http://schemas.openxmlformats.org/drawingml/2006/main"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 xmlns:a="http://schemas.openxmlformats.org/drawingml/2006/main"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 xmlns:a="http://schemas.openxmlformats.org/drawingml/2006/main"/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>
          <a:solidFill>
            <a:schemeClr val="phClr"/>
          </a:solidFill>
          <a:prstDash val="solid"/>
        </a:ln>
        <a:ln w="38100" cap="flat" cmpd="sng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algn="b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algn="b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algn="b" rotWithShape="0">
              <a:srgbClr val="000000">
                <a:alpha val="35000"/>
              </a:srgbClr>
            </a:outerShdw>
          </a:effectLst>
          <a:scene3d xmlns:a="http://schemas.openxmlformats.org/drawingml/2006/main"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 xmlns:a="http://schemas.openxmlformats.org/drawingml/2006/main"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 xmlns:a="http://schemas.openxmlformats.org/drawingml/2006/main"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 xmlns:a="http://schemas.openxmlformats.org/drawingml/2006/main"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DeckCraft</Application>
  <Slides>13</Slides>
  <Notes>13</Notes>
  <HiddenSlides>0</Hidden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</cp:coreProperties>
</file>