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team. One line: we predict how much energy a person burns while walking in an exoskeleton, from sensors they could wear anywhere, instead of from a lab-only breathing mask.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HILO: CMA-ES proposes a torque profile every 2 min and keeps those with the lowest metabolic cost (Zhang et al., Science 2017). Metabolic cost comes from a mask (indirect calorimetry): slow, noisy, lab-only. If we can predict it from wearable signals, HILO becomes faster and portable.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from the Stanford Biomechatronics Lab HILO study, as released with the CS229 paper we were given. Each row is the last 30 s of a 2-min condition. One Subject-2 row had a negative (impossible) metabolic rate and is removed, as in the original. Point at the plot: cost drops ~40% across days because the user learns to walk with the exo. The data are non-stationary, which matters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left to right. Pre-processing was done by the lab: EMG filtering and day normalisation. Our contribution starts at the feature matrix: a leakage-free model zoo, two validation protocols and analyses aimed at what the optimiser actually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 used MATLAB trainbr. We re-implemented it in NumPy: Levenberg-Marquardt steps plus MacKay's evidence updates for alpha, beta and gamma, so regularisation is learned from the training data with no validation split. The Jacobian is closed form and unit-tested against finite differences. The neuron sweep (right) reproduces the paper's Fig. 1: 1-2 neurons are best. The Gaussian Process adds calibrated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protocol as the paper: random 5-fold CV, repeated 5 times and properly nested. S1: 0.0079 vs 0.0089 (11% lower). S2: 0.0109 vs 0.0168 (35% lower). In plain terms, about 9-10% error relative to normal-walking cost, versus 19-26% for predicting the mean. The noise floor is 0.0025, so headroom remains.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Dark bars use the paper's protocol; light bars use leave-one-day-out. Every model gets worse on an unseen day: neighbouring conditions from the same day leak information under random splits. For S1, heavily regularised linear models (OLS/PLS/Ridge) generalise best across days, while trees and kNN overfit. For S2, several models are worse than the mean on unseen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day is predicted by a GP trained only on the other four days; the shaded band is the GP 95% interval. S1 tracks closely (r = 0.88, R² ≈ 0.79 for the best linear model). S2 misses the drop in level on days 3-5: its sensors do not see that change, and the wider band shows the GP knows it is less sure. For CMA-ES, ranking within a day is what matters; Spearman rho is about 0.6 for S1.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Permutation importance on held-out folds, plus a group-wise permutation. EMG &gt; Step &gt; Control for S1, and EMG &gt; Control &gt; Step for S2, matching the paper's ablation. LASSO stability selection over 200 bootstraps keeps R4 and R7 (S1) and R2 (S2) 93-100% of the time, so a reduced sensor set is realistic. Dropping the control parameters barely hurts, which is good for portability to other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PCA ignores the target. Supervised PLS with one component matches PCA with 8 on S2, which explains the paper's poor PCA result. Right: train on one person, test on the other: worse than predicting the mean. Per-subject z-scoring cuts the error 3x but is still not useful, so models must be subject-specific (or need many more subjects plus anthropometrics).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Calibration: the GP's nominal 95% interval covers 94% of unseen-day points for S1, close to perfect. For S2 it covers 77%, so it is over-confident on the harder subject, but the intervals are visibly wider there. Learning curves are still falling for S1 at 144 samples: more sessions should keep improving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Calibration: on a new day, measure k random conditions with the mask and shift that day's predictions by a shrunken offset w * mean residual, with w = k / (k + sigma^2 / tau^2). Both variances are estimated from the training days only (empirical Bayes). S2 trusts calibration (w about 0.87); S1, whose days are already well predicted, trusts it less. 3 of 36 readings: S2 GP 0.046 -&gt; 0.022. Calibrating on the first conditions of a session is biased (cost runs high early on) and hurt S1 at k &gt;= 5; shrinkage limits the damage. Sensors: electrode choice is made inside each training fold, so there is no leakage. Cross-subject recalibration did NOT help: a new person needs their own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Run: streamlit run app/streamlit_app.py. Demo order: (1) Data tab: show the 5-day trend. (2) Predict an unseen day: choose Subject 2, Day 5 (MSE 0.093), then drag the calibration slider to 3: MSE falls to 0.016 and the yellow diamonds show the 3 mask readings. (3) What-if: drag the EMG_R4 slider and watch the predicted cost change. (4) Results tab: leaderboard. Backup: python scripts/predict.py --demo --subject S1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four numbers. Future work: the biggest lever is more people. A daily calibration walk could fix the day-level offset seen in Subject 2. Use the prediction as a prior to speed up the optimiser rather than as a complete replacement for the mask.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Mukil: extended study, calibration, dashboard. Likhith: faithful MATLAB-to-Python port and GitHub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14300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ML · #11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Predicting Metabolic Cost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During Human-in-the-Loop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033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BFD4F2"/>
                </a:solidFill>
                <a:latin typeface="Calibri"/>
              </a:rPr>
              <a:t>Replacing a slow, lab-only face-mask measurement with wearable EMG and gait sensors, for exoskeletons that tune themselves outside the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Team:  </a:t>
            </a:r>
            <a:r>
              <a:rPr sz="1600" b="0" i="0">
                <a:solidFill>
                  <a:srgbClr val="BFD4F2"/>
                </a:solidFill>
                <a:latin typeface="Calibri"/>
              </a:rPr>
              <a:t>Mukil Skanda A (PES1UG24CS281)   ·   Likhith M (PES1UG24CS282)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BFD4F2"/>
                </a:solidFill>
                <a:latin typeface="Calibri"/>
              </a:rPr>
              <a:t>UE24CS352A Machine Learning · Mini-Project Review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mbria"/>
              </a:rPr>
              <a:t>Exoskeleton tuning is bottlenecked by a breathing mask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MetaCost · Predicting metabolic cost during HILO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B2D"/>
                </a:solidFill>
                <a:latin typeface="Calibri"/>
              </a:rPr>
              <a:t>CMA-ES optimiser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55B66"/>
                </a:solidFill>
                <a:latin typeface="Calibri"/>
              </a:rPr>
              <a:t>proposes new torque profile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2212848"/>
            <a:ext cx="182880" cy="274320"/>
          </a:xfrm>
          <a:prstGeom prst="rightArrow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7373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74519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B2D"/>
                </a:solidFill>
                <a:latin typeface="Calibri"/>
              </a:rPr>
              <a:t>Exoskeleton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317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55B66"/>
                </a:solidFill>
                <a:latin typeface="Calibri"/>
              </a:rPr>
              <a:t>applies it for 2 min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06440" y="2212848"/>
            <a:ext cx="182880" cy="274320"/>
          </a:xfrm>
          <a:prstGeom prst="rightArrow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0" y="17373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74519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B2D"/>
                </a:solidFill>
                <a:latin typeface="Calibri"/>
              </a:rPr>
              <a:t>Human walks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3317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55B66"/>
                </a:solidFill>
                <a:latin typeface="Calibri"/>
              </a:rPr>
              <a:t>body adapts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03920" y="2212848"/>
            <a:ext cx="182880" cy="274320"/>
          </a:xfrm>
          <a:prstGeom prst="rightArrow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41080" y="17373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59" y="1874519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Metabolic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59" y="233172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measured via face mask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9067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55B66"/>
                </a:solidFill>
                <a:latin typeface="Calibri"/>
              </a:rPr>
              <a:t>↻  repeated 36× per 72-min session, feedback = metabolic cost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49039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13631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B6834"/>
                </a:solidFill>
                <a:latin typeface="Cambria"/>
              </a:rPr>
              <a:t>~1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1772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to settle after every change in control law, so it is slow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749039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913631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B6834"/>
                </a:solidFill>
                <a:latin typeface="Cambria"/>
              </a:rPr>
              <a:t>≈ 5 %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1772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irreducible noise in the measurement (MSE floor ≈ 0.0025)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49039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913631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B6834"/>
                </a:solidFill>
                <a:latin typeface="Cambria"/>
              </a:rPr>
              <a:t>Lab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61772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needs a face mask, a metabolic cart and fasting subjects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B2D"/>
                </a:solidFill>
                <a:latin typeface="Calibri"/>
              </a:rPr>
              <a:t>Our goal: </a:t>
            </a:r>
            <a:r>
              <a:rPr sz="1700" b="0" i="0">
                <a:solidFill>
                  <a:srgbClr val="14171C"/>
                </a:solidFill>
                <a:latin typeface="Calibri"/>
              </a:rPr>
              <a:t>learn  f(EMG, gait, controls) → metabolic cost  so the mask can eventually be replaced by sensors a person could wear anywhere.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mbria"/>
              </a:rPr>
              <a:t>Real lab data: 2 people, 5 days, 36 assistance conditions per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MetaCost · Predicting metabolic cost during HILO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73351"/>
            <a:ext cx="1371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A78D6"/>
                </a:solidFill>
                <a:latin typeface="Cambria"/>
              </a:rPr>
              <a:t>359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39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samples
(180 + 179)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50876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673351"/>
            <a:ext cx="1371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A78D6"/>
                </a:solidFill>
                <a:latin typeface="Cambria"/>
              </a:rPr>
              <a:t>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377439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features per
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50876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673351"/>
            <a:ext cx="1371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78D6"/>
                </a:solidFill>
                <a:latin typeface="Cambria"/>
              </a:rPr>
              <a:t>0.0025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377439"/>
            <a:ext cx="137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noise-floor
MSE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273552"/>
            <a:ext cx="256032" cy="256032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20040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B2D"/>
                </a:solidFill>
                <a:latin typeface="Calibri"/>
              </a:rPr>
              <a:t>16  EMG</a:t>
            </a:r>
          </a:p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8 muscles per leg; band-pass → rectify → RMS, normalised each day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050791"/>
            <a:ext cx="256032" cy="256032"/>
          </a:xfrm>
          <a:prstGeom prst="ellipse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77639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B2D"/>
                </a:solidFill>
                <a:latin typeface="Calibri"/>
              </a:rPr>
              <a:t>9  Step / gait</a:t>
            </a:r>
          </a:p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peak ground force, ankle dorsi/plantar-flexion, step time, step width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828032"/>
            <a:ext cx="256032" cy="256032"/>
          </a:xfrm>
          <a:prstGeom prst="ellipse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5488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B2D"/>
                </a:solidFill>
                <a:latin typeface="Calibri"/>
              </a:rPr>
              <a:t>4  Control</a:t>
            </a:r>
          </a:p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exo torque profile: peak torque, peak time, rise time, fall time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605272"/>
            <a:ext cx="256032" cy="256032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53212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B2D"/>
                </a:solidFill>
                <a:latin typeface="Calibri"/>
              </a:rPr>
              <a:t>1  Target</a:t>
            </a:r>
          </a:p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metabolic rate - standing baseline, ÷ normal walking (1.0 = no exo)</a:t>
            </a:r>
          </a:p>
        </p:txBody>
      </p:sp>
      <p:pic>
        <p:nvPicPr>
          <p:cNvPr id="23" name="Picture 22" descr="F1_dataset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571750"/>
            <a:ext cx="5074920" cy="25374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mbria"/>
              </a:rPr>
              <a:t>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MetaCost · Predicting metabolic cost during HILO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13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11064240" cy="27660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43484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45152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B2D"/>
                </a:solidFill>
                <a:latin typeface="Calibri"/>
              </a:rPr>
              <a:t>Leakage-free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6636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Scaling and every hyper-parameter search happen inside training folds (nested CV). The paper tuned λ on its test folds.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443484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279" y="461772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645152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B2D"/>
                </a:solidFill>
                <a:latin typeface="Calibri"/>
              </a:rPr>
              <a:t>Two protocols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516636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Random 5-fold ×5 (the paper's, for comparison) and leave-one-day-out (predict a whole new session, the realistic case).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443484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19" y="461772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645152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F1B2D"/>
                </a:solidFill>
                <a:latin typeface="Calibri"/>
              </a:rPr>
              <a:t>Two 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516636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A faithful 1:1 Python port of the paper's MATLAB scripts (baseline), plus the extended study: 12 experiments, 16 figures, 10 unit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mbria"/>
              </a:rPr>
              <a:t>13 models, including the paper's network rebuilt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MetaCost · Predicting metabolic cost during HILO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A78D6"/>
                </a:solidFill>
                <a:latin typeface="Calibri"/>
              </a:rPr>
              <a:t>Linear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5087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71C"/>
                </a:solidFill>
                <a:latin typeface="Calibri"/>
              </a:rPr>
              <a:t>OLS · LASSO · Ridge · Elastic Net · PLS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1226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A78D6"/>
                </a:solidFill>
                <a:latin typeface="Calibri"/>
              </a:rPr>
              <a:t>Kernel / instance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11226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71C"/>
                </a:solidFill>
                <a:latin typeface="Calibri"/>
              </a:rPr>
              <a:t>SVR (RBF) · kNN · Gaussian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A78D6"/>
                </a:solidFill>
                <a:latin typeface="Calibri"/>
              </a:rPr>
              <a:t>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71576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71C"/>
                </a:solidFill>
                <a:latin typeface="Calibri"/>
              </a:rPr>
              <a:t>Random Forest · Extra Trees · Gradient Boosting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1927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A78D6"/>
                </a:solidFill>
                <a:latin typeface="Calibri"/>
              </a:rPr>
              <a:t>Neural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31927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71C"/>
                </a:solidFill>
                <a:latin typeface="Calibri"/>
              </a:rPr>
              <a:t>Bayesian-regularised NN (trainbr)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22776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A78D6"/>
                </a:solidFill>
                <a:latin typeface="Calibri"/>
              </a:rPr>
              <a:t>Ensemble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922776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4171C"/>
                </a:solidFill>
                <a:latin typeface="Calibri"/>
              </a:rPr>
              <a:t>average of GP + SVR + LASSO + Extra Trees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5577840" cy="155448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8"/>
            <a:ext cx="5212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Bayesian-regularised NN, from scratch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BFD4F2"/>
                </a:solidFill>
                <a:latin typeface="Cambria"/>
              </a:rPr>
              <a:t>F(w) = β·E_D + α·E_W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BFD4F2"/>
                </a:solidFill>
                <a:latin typeface="Cambria"/>
              </a:rPr>
              <a:t>γ = P − α·tr(H⁻¹),  α = γ / 2E_W,  β = (N − γ) / 2E_D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Levenberg-Marquardt · closed-form Jacobian · picks 1-2 neurons</a:t>
            </a:r>
          </a:p>
        </p:txBody>
      </p:sp>
      <p:pic>
        <p:nvPicPr>
          <p:cNvPr id="18" name="Picture 17" descr="F3_neuron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00250"/>
            <a:ext cx="5257800" cy="36804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mbria"/>
              </a:rPr>
              <a:t>We beat the original study on both subjects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MetaCost · Predicting metabolic cost during HILO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2A78D6"/>
                </a:solidFill>
                <a:latin typeface="Cambria"/>
              </a:rPr>
              <a:t>0.0079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Subject 1 MSE (ours)
paper: 0.0089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19072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2A78D6"/>
                </a:solidFill>
                <a:latin typeface="Cambria"/>
              </a:rPr>
              <a:t>−11 %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2316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error vs paper
on Subject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546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19272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EB6834"/>
                </a:solidFill>
                <a:latin typeface="Cambria"/>
              </a:rPr>
              <a:t>0.0109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2336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Subject 2 MSE (ours)
paper: 0.0168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546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319272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EB6834"/>
                </a:solidFill>
                <a:latin typeface="Cambria"/>
              </a:rPr>
              <a:t>−35 %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023360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error vs paper
on Subject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19472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mbria"/>
              </a:rPr>
              <a:t>R² = 0.88  /  0.71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2356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variance explained (S1 / S2), out-of-fold</a:t>
            </a:r>
          </a:p>
        </p:txBody>
      </p:sp>
      <p:pic>
        <p:nvPicPr>
          <p:cNvPr id="21" name="Picture 20" descr="F6_pred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84450"/>
            <a:ext cx="5257800" cy="25120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RESULTS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mbria"/>
              </a:rPr>
              <a:t>Random splits flatter models: unseen days are the real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MetaCost · Predicting metabolic cost during HILO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4_model_zo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68532"/>
            <a:ext cx="7680960" cy="41896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645920"/>
            <a:ext cx="33375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>
                <a:solidFill>
                  <a:srgbClr val="14171C"/>
                </a:solidFill>
                <a:latin typeface="Calibri"/>
              </a:rPr>
              <a:t>Random CV: </a:t>
            </a:r>
            <a:r>
              <a:rPr sz="1500" b="0">
                <a:solidFill>
                  <a:srgbClr val="14171C"/>
                </a:solidFill>
                <a:latin typeface="Calibri"/>
              </a:rPr>
              <a:t>GP, SVR and the ensemble lead (MSE ≈ 0.008-0.011)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>
                <a:solidFill>
                  <a:srgbClr val="14171C"/>
                </a:solidFill>
                <a:latin typeface="Calibri"/>
              </a:rPr>
              <a:t>Unseen day: </a:t>
            </a:r>
            <a:r>
              <a:rPr sz="1500" b="0">
                <a:solidFill>
                  <a:srgbClr val="14171C"/>
                </a:solidFill>
                <a:latin typeface="Calibri"/>
              </a:rPr>
              <a:t>error roughly doubles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>
                <a:solidFill>
                  <a:srgbClr val="14171C"/>
                </a:solidFill>
                <a:latin typeface="Calibri"/>
              </a:rPr>
              <a:t>Simple wins across days: </a:t>
            </a:r>
            <a:r>
              <a:rPr sz="1500" b="0">
                <a:solidFill>
                  <a:srgbClr val="14171C"/>
                </a:solidFill>
                <a:latin typeface="Calibri"/>
              </a:rPr>
              <a:t>PLS / Ridge reach 0.0145 on S1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>
                <a:solidFill>
                  <a:srgbClr val="14171C"/>
                </a:solidFill>
                <a:latin typeface="Calibri"/>
              </a:rPr>
              <a:t>Trees &amp; kNN </a:t>
            </a:r>
            <a:r>
              <a:rPr sz="1500" b="0">
                <a:solidFill>
                  <a:srgbClr val="14171C"/>
                </a:solidFill>
                <a:latin typeface="Calibri"/>
              </a:rPr>
              <a:t>overfit within-day structure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>
                <a:solidFill>
                  <a:srgbClr val="EB6834"/>
                </a:solidFill>
                <a:latin typeface="Calibri"/>
              </a:rPr>
              <a:t>Lesson: </a:t>
            </a:r>
            <a:r>
              <a:rPr sz="1500" b="0">
                <a:solidFill>
                  <a:srgbClr val="14171C"/>
                </a:solidFill>
                <a:latin typeface="Calibri"/>
              </a:rPr>
              <a:t>report the protocol that matches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RESULTS · GENERALISATION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mbria"/>
              </a:rPr>
              <a:t>Predicting a session the model has never seen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MetaCost · Predicting metabolic cost during HILO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5_unseen_day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7243"/>
            <a:ext cx="7863840" cy="424647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63040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627632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2A78D6"/>
                </a:solidFill>
                <a:latin typeface="Cambria"/>
              </a:rPr>
              <a:t>≈ 12 %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331720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error on unseen days, Subject 1 (R² 0.78)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3063240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3227832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A78D6"/>
                </a:solidFill>
                <a:latin typeface="Cambria"/>
              </a:rPr>
              <a:t>ρ ≈ 0.62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931920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within-day rank correlation (S1), what the optimiser needs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4663440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4828031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B6834"/>
                </a:solidFill>
                <a:latin typeface="Cambria"/>
              </a:rPr>
              <a:t>≈ 16 %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5532120"/>
            <a:ext cx="2651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Subject 2: day-level shifts are invisible to the sensors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RESULTS ·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mbria"/>
              </a:rPr>
              <a:t>EMG carries the signal, and a few muscles do most of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MetaCost · Predicting metabolic cost during HILO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8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5682"/>
            <a:ext cx="7589520" cy="386375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21040" y="1508760"/>
          <a:ext cx="3733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112520"/>
                <a:gridCol w="1112520"/>
              </a:tblGrid>
              <a:tr h="4206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Feature set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S1 GP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S2 GP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alibri"/>
                        </a:rPr>
                        <a:t>All features</a:t>
                      </a:r>
                    </a:p>
                  </a:txBody>
                  <a:tcPr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alibri"/>
                        </a:rPr>
                        <a:t>0.0081</a:t>
                      </a:r>
                    </a:p>
                  </a:txBody>
                  <a:tcPr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alibri"/>
                        </a:rPr>
                        <a:t>0.0129</a:t>
                      </a:r>
                    </a:p>
                  </a:txBody>
                  <a:tcPr>
                    <a:solidFill>
                      <a:srgbClr val="F1F5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alibri"/>
                        </a:rPr>
                        <a:t>Step + EMG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alibri"/>
                        </a:rPr>
                        <a:t>0.0090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alibri"/>
                        </a:rPr>
                        <a:t>0.0120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alibri"/>
                        </a:rPr>
                        <a:t>EMG only</a:t>
                      </a:r>
                    </a:p>
                  </a:txBody>
                  <a:tcPr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alibri"/>
                        </a:rPr>
                        <a:t>0.0107</a:t>
                      </a:r>
                    </a:p>
                  </a:txBody>
                  <a:tcPr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alibri"/>
                        </a:rPr>
                        <a:t>0.0146</a:t>
                      </a:r>
                    </a:p>
                  </a:txBody>
                  <a:tcPr>
                    <a:solidFill>
                      <a:srgbClr val="F1F5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alibri"/>
                        </a:rPr>
                        <a:t>Step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alibri"/>
                        </a:rPr>
                        <a:t>0.0151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Calibri"/>
                        </a:rPr>
                        <a:t>0.0141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21040" y="370332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55B66"/>
                </a:solidFill>
                <a:latin typeface="Calibri"/>
              </a:rPr>
              <a:t>Feature-set ablation (CV MSE)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A78D6"/>
                </a:solidFill>
                <a:latin typeface="Calibri"/>
              </a:rPr>
              <a:t>▸  </a:t>
            </a:r>
            <a:r>
              <a:rPr sz="1500" b="1">
                <a:solidFill>
                  <a:srgbClr val="14171C"/>
                </a:solidFill>
                <a:latin typeface="Calibri"/>
              </a:rPr>
              <a:t>EMG is the strongest group </a:t>
            </a:r>
            <a:r>
              <a:rPr sz="1500" b="0">
                <a:solidFill>
                  <a:srgbClr val="14171C"/>
                </a:solidFill>
                <a:latin typeface="Calibri"/>
              </a:rPr>
              <a:t>in grouped importance for both subjects; dropping the controls costs little, which helps transfer to other exo hardware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RESULTS · DEEPER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mbria"/>
              </a:rPr>
              <a:t>Why PCA failed, and why one model cannot fit everyone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MetaCost · Predicting metabolic cost during HILO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F9_dimensionality_red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37943"/>
            <a:ext cx="5669280" cy="2267712"/>
          </a:xfrm>
          <a:prstGeom prst="rect">
            <a:avLst/>
          </a:prstGeom>
        </p:spPr>
      </p:pic>
      <p:pic>
        <p:nvPicPr>
          <p:cNvPr id="7" name="Picture 6" descr="F12_cross_subj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23060"/>
            <a:ext cx="5394960" cy="2697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873752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B2D"/>
                </a:solidFill>
                <a:latin typeface="Calibri"/>
              </a:rPr>
              <a:t>Supervised &gt; unsupervised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B66"/>
                </a:solidFill>
                <a:latin typeface="Calibri"/>
              </a:rPr>
              <a:t>1 PLS component (0.0138) = 8 PCA components on S2. Forward selection is greedy and unstable.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754880"/>
            <a:ext cx="5349240" cy="146304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873752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B2D"/>
                </a:solidFill>
                <a:latin typeface="Calibri"/>
              </a:rPr>
              <a:t>People are different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B66"/>
                </a:solidFill>
                <a:latin typeface="Calibri"/>
              </a:rPr>
              <a:t>S1 → S2: MSE 0.152 vs 0.036 for the mean. Per-subject z-scoring → 0.046. Personal models are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RESULTS ·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mbria"/>
              </a:rPr>
              <a:t>The model knows when it is unsure, and more data would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MetaCost · Predicting metabolic cost during HILO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F11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97" y="1371600"/>
            <a:ext cx="3664245" cy="3429000"/>
          </a:xfrm>
          <a:prstGeom prst="rect">
            <a:avLst/>
          </a:prstGeom>
        </p:spPr>
      </p:pic>
      <p:pic>
        <p:nvPicPr>
          <p:cNvPr id="7" name="Picture 6" descr="F10_learning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96212"/>
            <a:ext cx="6949440" cy="27797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983480"/>
            <a:ext cx="402336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48072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AF7A"/>
                </a:solidFill>
                <a:latin typeface="Cambria"/>
              </a:rPr>
              <a:t>94 %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5216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of unseen-day points inside the S1 95 % interval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983480"/>
            <a:ext cx="690372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5148072"/>
            <a:ext cx="6446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AF7A"/>
                </a:solidFill>
                <a:latin typeface="Cambria"/>
              </a:rPr>
              <a:t>0.0155 → 0.0088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5852160"/>
            <a:ext cx="6446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S1 GP test MSE from 28 to 144 training samples, still decreasing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mbria"/>
              </a:rPr>
              <a:t>Fixing the weaknesses, without collecting new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MetaCost · Predicting metabolic cost during HILO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12</a:t>
            </a:r>
          </a:p>
        </p:txBody>
      </p:sp>
      <p:pic>
        <p:nvPicPr>
          <p:cNvPr id="6" name="Picture 5" descr="F14_day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5715000" cy="2286000"/>
          </a:xfrm>
          <a:prstGeom prst="rect">
            <a:avLst/>
          </a:prstGeom>
        </p:spPr>
      </p:pic>
      <p:pic>
        <p:nvPicPr>
          <p:cNvPr id="7" name="Picture 6" descr="F15_sensor_redu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719072"/>
            <a:ext cx="5577840" cy="22311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452628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90872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B6834"/>
                </a:solidFill>
                <a:latin typeface="Cambria"/>
              </a:rPr>
              <a:t>−51 %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9496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S2 unseen-day error with just 3 of 36 mask spot-checks (GP 0.046 → 0.022)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452628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4690872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F1B2D"/>
                </a:solidFill>
                <a:latin typeface="Cambria"/>
              </a:rPr>
              <a:t>w = k/(k+σ²/τ²)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539496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empirical-Bayes shrinkage: trusts calibration only as much as the training days justify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52628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690872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AF7A"/>
                </a:solidFill>
                <a:latin typeface="Cambria"/>
              </a:rPr>
              <a:t>4 of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39496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EMG electrodes beat all 16 for S2 (unseen-day Ridge 0.036 → 0.024)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F1B2D"/>
                </a:solidFill>
                <a:latin typeface="Cambria"/>
              </a:rPr>
              <a:t>Live demo: 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  <a:latin typeface="Calibri"/>
              </a:rPr>
              <a:t>MetaCost · Predicting metabolic cost during HILO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5B66"/>
                </a:solidFill>
                <a:latin typeface="Calibri"/>
              </a:rPr>
              <a:t>13</a:t>
            </a:r>
          </a:p>
        </p:txBody>
      </p:sp>
      <p:pic>
        <p:nvPicPr>
          <p:cNvPr id="6" name="Picture 5" descr="app_screensh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36751"/>
            <a:ext cx="6949440" cy="4213098"/>
          </a:xfrm>
          <a:prstGeom prst="rect">
            <a:avLst/>
          </a:prstGeom>
          <a:ln w="12700">
            <a:solidFill>
              <a:srgbClr val="D0D5DD"/>
            </a:solidFill>
          </a:ln>
        </p:spPr>
      </p:pic>
      <p:sp>
        <p:nvSpPr>
          <p:cNvPr id="7" name="Oval 6"/>
          <p:cNvSpPr/>
          <p:nvPr/>
        </p:nvSpPr>
        <p:spPr>
          <a:xfrm>
            <a:off x="7818120" y="150876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B2D"/>
                </a:solidFill>
                <a:latin typeface="Calibri"/>
              </a:rPr>
              <a:t>Data</a:t>
            </a:r>
          </a:p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5-day trajectories, correlations, raw table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35915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313432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B2D"/>
                </a:solidFill>
                <a:latin typeface="Calibri"/>
              </a:rPr>
              <a:t>Predict an unseen day</a:t>
            </a:r>
          </a:p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live retraining on 4 days + calibration slider (S2 day 5: 0.093 → 0.016)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3209544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163824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B2D"/>
                </a:solidFill>
                <a:latin typeface="Calibri"/>
              </a:rPr>
              <a:t>What-if simulator</a:t>
            </a:r>
          </a:p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drag sensor sliders → cost ± uncertainty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4059936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014216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B2D"/>
                </a:solidFill>
                <a:latin typeface="Calibri"/>
              </a:rPr>
              <a:t>Results</a:t>
            </a:r>
          </a:p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leaderboard for both protocols + all figures</a:t>
            </a:r>
          </a:p>
        </p:txBody>
      </p:sp>
      <p:sp>
        <p:nvSpPr>
          <p:cNvPr id="15" name="Oval 14"/>
          <p:cNvSpPr/>
          <p:nvPr/>
        </p:nvSpPr>
        <p:spPr>
          <a:xfrm>
            <a:off x="7818120" y="4910328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864608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B2D"/>
                </a:solidFill>
                <a:latin typeface="Calibri"/>
              </a:rPr>
              <a:t>Batch predict</a:t>
            </a:r>
          </a:p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upload CSV → download predictions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06440"/>
            <a:ext cx="6949440" cy="457200"/>
          </a:xfrm>
          <a:prstGeom prst="roundRect">
            <a:avLst>
              <a:gd name="adj" fmla="val 15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806440"/>
            <a:ext cx="6583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ourier New"/>
              </a:rPr>
              <a:t>$  streamlit run app/streamlit_app.py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FD4F2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Wearables can replace the mask, one person at a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1C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B6834"/>
                </a:solidFill>
                <a:latin typeface="Cambria"/>
              </a:rPr>
              <a:t>9-10 %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121408"/>
            <a:ext cx="3474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error within a session from EMG + gait (mean-baseline: 19-26 %); beats the original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6596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1C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148840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B6834"/>
                </a:solidFill>
                <a:latin typeface="Cambria"/>
              </a:rPr>
              <a:t>2×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121408"/>
            <a:ext cx="3474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error on a new day: random-split CV is optimistic, so deploy-style validation matters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1C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B6834"/>
                </a:solidFill>
                <a:latin typeface="Cambria"/>
              </a:rPr>
              <a:t>EMG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538728"/>
            <a:ext cx="3474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is the key signal; 4 of 16 electrodes beat all 16 for S2, so cheaper hardware is possible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1C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B6834"/>
                </a:solidFill>
                <a:latin typeface="Cambria"/>
              </a:rPr>
              <a:t>1 :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538728"/>
            <a:ext cx="3474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models must be subject-specific; cross-person transfer is worse than the mean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83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94960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3154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More subjects + anthropometrics + IMU kinematics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5394960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5394960"/>
            <a:ext cx="3154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Test spot-check calibration live in a real HILO session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5394960"/>
            <a:ext cx="3520440" cy="82296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5394960"/>
            <a:ext cx="3154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Use the surrogate as a prior inside CMA-ES / Bayesian optimisation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Thank you,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FD4F2"/>
                </a:solidFill>
                <a:latin typeface="Calibri"/>
              </a:rPr>
              <a:t>Code, data, figures and the 2-page write-up are in the private GitHub repository.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9184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1C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34747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B6834"/>
                </a:solidFill>
                <a:latin typeface="Calibri"/>
              </a:rPr>
              <a:t>Mukil Skanda A · PES1UG24CS281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402336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Extended study: Bayesian-regularised NN, 13-model zoo, nested &amp; leave-one-day-out validation, calibration, dashboard, write-up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91840"/>
            <a:ext cx="5440680" cy="2011680"/>
          </a:xfrm>
          <a:prstGeom prst="roundRect">
            <a:avLst>
              <a:gd name="adj" fmla="val 8000"/>
            </a:avLst>
          </a:prstGeom>
          <a:solidFill>
            <a:srgbClr val="1C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34747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B6834"/>
                </a:solidFill>
                <a:latin typeface="Calibri"/>
              </a:rPr>
              <a:t>Likhith M · PES1UG24CS282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02336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Faithful MATLAB → Python port of the paper (paper_reproduction/): NN vs linear-regression baseline, 4 feature sets, forward selection, GitHub repo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FD4F2"/>
                </a:solidFill>
                <a:latin typeface="Calibri"/>
              </a:rPr>
              <a:t>Ref: Krimsky &amp; Ng, CS229 2018 · Zhang et al., Science 2017 · MacKay 1992 · Rasmussen &amp; Williams 2006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