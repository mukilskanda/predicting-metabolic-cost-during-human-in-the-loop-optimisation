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team. One line: we predict how much energy a person burns while walking in an exoskeleton, from sensors they could wear anywhere, instead of from a lab-only breathing mask.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HILO: CMA-ES proposes a torque profile every 2 min and keeps those with the lowest metabolic cost (Zhang et al., Science 2017). Metabolic cost comes from a mask (indirect calorimetry): slow, noisy, lab-only. If we can predict it from wearable signals, HILO becomes faster and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from the Stanford Biomechatronics Lab HILO study, as released with the CS229 paper we were given. Each row is the last 30 s of a 2-min condition. One Subject-2 row had a negative (impossible) metabolic rate and is removed, as in the original. Point at the plot: cost drops ~40% across days because the user learns to walk with the exo. The data are non-stationary, which matters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left to right. Pre-processing was done by the lab: EMG filtering and day normalisation. Our contribution starts at the feature matrix. On evaluation: the original paper describes 10-fold cross-validation for tuning its LASSO model. We instead use repeated nested 5-fold CV, so every model-selection step stays inside the training folds, plus leave-one-day-out to test a new session. Because the protocols differ, the paper's scores are reference benchmarks, not a like-for-like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used MATLAB trainbr. We re-implemented it in NumPy: Levenberg-Marquardt steps plus MacKay's evidence updates for alpha, beta and gamma, so regularisation is learned from the training data with no validation split. The Jacobian is closed form and unit-tested against finite differences. The neuron sweep (right) reproduces the paper's Fig. 1: 1-2 neurons are best. The Gaussian Process adds calibrated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our evaluation setup (repeated nested 5-fold CV), our best models reach lower MSE on both subjects: S1 0.0079 (ensemble) and S2 0.0109 (SVR). The paper's 0.0089 (S1) is linear regression on all features and its 0.0168 (S2) is linear regression on step + EMG features, under its own CV. Different models and protocols, so treat the paper's numbers as reference benchmarks, not a like-for-like comparison. In plain terms our error is about 9-10% of normal-walking cost, versus 19-26% for predicting the mean.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Dark bars use repeated nested 5-fold CV; light bars use leave-one-day-out. Every model gets worse on an unseen day: neighbouring conditions from the same day leak information under random splits. For S1, heavily regularised linear models (OLS/PLS/Ridge) generalise best across days, while trees and kNN overfit. For S2, several models are worse than the mean on unseen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day is predicted by a GP trained only on the other four days; the shaded band is the GP 95% interval. The stat cards on the right are each subject's BEST unseen-day model (S1: OLS, S2: Gradient Boosting); the GP drawn here is worse for S2 (MSE 0.046). S1 tracks closely (GP r = 0.88; OLS R² 0.79). S2 misses the drop in level on days 3-5: its sensors do not see that change, and the wider band shows the GP knows it is less sure. For CMA-ES, ranking within a day is what matters; Spearman rho is about 0.6 for S1.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Permutation importance on held-out folds, plus a group-wise permutation. EMG &gt; Step &gt; Control for S1, and EMG &gt; Control &gt; Step for S2, matching the paper's ablation. LASSO stability selection over 200 bootstraps keeps R4 and R7 (S1) and R2 (S2) 93-100% of the time, so a reduced sensor set is realistic. Dropping the control parameters barely hurts, which is good for portability to other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Calibration: on a new day, measure k random conditions with the mask and shift that day's predictions by a shrunken offset w * mean residual, with w = k / (k + sigma^2 / tau^2). Both variances are estimated from the training days only (empirical Bayes). S2 trusts calibration (w about 0.87); S1, whose days are already well predicted, trusts it less. 3 of 36 readings: S2 GP 0.046 -&gt; 0.022. Calibrating on the first conditions of a session is biased (cost runs high early on) and hurt S1 at k &gt;= 5; shrinkage limits the damage. Sensors: electrode choice is made inside each training fold, so there is no leakage. Cross-subject recalibration did NOT help: a new person needs their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a terminal in the project folder (cd into ML proj). Run the three commands in order. (1) The baseline from our port of the paper prints linear-regression MSE 0.0107 and R2 0.83 for Subject 1. This is the baseline, not our headline result: our best model reaches 0.0079 (slide 6). The paper reports 0.0089; the gap comes from different fold splits on only 180 samples. (2) predict.py trains a Gaussian Process on 4 days and predicts each unseen day; errors of about 11-17 %. (3) pytest shows all 10 tests pass. Total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Central conclusion: EMG and gait signals predict metabolic cost reasonably well within a session. However, unseen-day shifts and individual differences remain important limitations. Limited metabolic spot-checks may improve predictions, but validation on more subjects and real sessions is still needed. Future work: the biggest lever is more people. A daily calibration walk could fix the day-level offset seen in Subject 2. Use the prediction as a prior to speed up the optimiser rather than as a complete replacement for the mask.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PCA ignores the target. Supervised PLS with one component matches PCA with 8 on S2, which explains the paper's poor PCA result. Right: train on one person, test on the other: worse than predicting the mean. Per-subject z-scoring cuts the error 3x but is still not useful, so models must be subject-specific (or need many more subjects plus anthropometrics).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Calibration: the GP's nominal 95% interval covers 94% of unseen-day points for S1, close to perfect. For S2 it covers 77%, so it is over-confident on the harder subject, but the intervals are visibly wider there. Learning curves are still falling for S1 at 144 samples: more sessions should keep improving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14300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 · #11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Predicting Metabolic Cost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During Human-in-the-Loop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033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FD4F2"/>
                </a:solidFill>
                <a:latin typeface="Calibri"/>
              </a:rPr>
              <a:t>Replacing a slow, lab-only face-mask measurement with wearable EMG and gait sensors, for exoskeletons that tune themselves outside the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Team:  </a:t>
            </a:r>
            <a:r>
              <a:rPr sz="1600" b="0" i="0">
                <a:solidFill>
                  <a:srgbClr val="BFD4F2"/>
                </a:solidFill>
                <a:latin typeface="Calibri"/>
              </a:rPr>
              <a:t>Mukil Skanda A (PES1UG24CS281)   ·   Likhith M (PES1UG24CS282)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BFD4F2"/>
                </a:solidFill>
                <a:latin typeface="Calibri"/>
              </a:rPr>
              <a:t>UE24CS352A Machine Learning · Mini-Project Review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Exoskeleton tuning is bottlenecked by a breathing mask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CMA-ES optimiser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proposes new torque profile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4612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Exoskeleton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applies it for 2 min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Human walks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body adapts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50392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4108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59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Metabolic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59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measured via face mask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0906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555B66"/>
                </a:solidFill>
                <a:latin typeface="Calibri"/>
              </a:rPr>
              <a:t>↻  repeated 36× per 72-min session, feedback = metabolic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~1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to settle after every change in control law, so it is slow feedback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≈ 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irreducible noise in the measurement (MSE floor ≈ 0.0025)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Lab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needs a face mask, a metabolic cart and fasting subjects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Our goal: </a:t>
            </a:r>
            <a:r>
              <a:rPr sz="1700" b="0" i="0">
                <a:solidFill>
                  <a:srgbClr val="14171C"/>
                </a:solidFill>
                <a:latin typeface="Calibri"/>
              </a:rPr>
              <a:t>learn  f(EMG, gait, controls) → metabolic cost  so the mask can eventually be replaced by sensors a person could wear anywhere.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Real lab data: 2 people, 5 days, 36 assistance conditions per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359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samples
(180 + 179)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features per
sample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78D6"/>
                </a:solidFill>
                <a:latin typeface="Cambria"/>
              </a:rPr>
              <a:t>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noise-floor
MSE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273552"/>
            <a:ext cx="256032" cy="256032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00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16  EMG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8 muscles per leg; band-pass → rectify → RMS, normalised each day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50791"/>
            <a:ext cx="256032" cy="256032"/>
          </a:xfrm>
          <a:prstGeom prst="ellipse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9  Step / gait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peak ground force, ankle dorsi/plantar-flexion, step time, step width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828032"/>
            <a:ext cx="256032" cy="256032"/>
          </a:xfrm>
          <a:prstGeom prst="ellipse">
            <a:avLst/>
          </a:prstGeom>
          <a:solidFill>
            <a:srgbClr val="ED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75488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4  Control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exo torque profile: peak torque, peak time, rise time, fall time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605272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53212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1  Target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metabolic rate - standing baseline, ÷ normal walking (1.0 = no exo)</a:t>
            </a:r>
          </a:p>
        </p:txBody>
      </p:sp>
      <p:pic>
        <p:nvPicPr>
          <p:cNvPr id="23" name="Picture 22" descr="F1_dataset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571750"/>
            <a:ext cx="5074920" cy="25374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End-to-end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13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11064240" cy="27660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2628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Leakage-free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292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Scaling and every hyper-parameter search happen inside the training folds (nested CV), so no test data influences model selection.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26279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52628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Two protocols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50292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Repeated nested 5-fold CV for comparison, and leave-one-day-out to test generalisation to an unseen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75319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52628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Two 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50292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A faithful 1:1 Python port of the paper's MATLAB scripts (baseline), plus the extended study: 12 experiments, 16 figures, 10 unit tests.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0F1B2D"/>
                </a:solidFill>
                <a:latin typeface="Calibri"/>
              </a:rPr>
              <a:t>We evaluate both predictive accuracy and whether it holds on a new 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13 models, including the paper's network rebuilt from scratch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50876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OLS · LASSO · Ridge · Elastic Net · PLS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12264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Kernel / instance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112264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SVR (RBF) · kNN · Gaussian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71576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Random Forest · Extra Trees · Gradient Boosting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9272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Neural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31927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Bayesian-regularised NN (trainbr)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2277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Ensemble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922776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average of GP + SVR + LASSO + Extra Trees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63440"/>
            <a:ext cx="5577840" cy="15544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5212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Bayesian-regularised NN, from scratch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BFD4F2"/>
                </a:solidFill>
                <a:latin typeface="Cambria"/>
              </a:rPr>
              <a:t>F(w) = β·E_D + α·E_W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BFD4F2"/>
                </a:solidFill>
                <a:latin typeface="Cambria"/>
              </a:rPr>
              <a:t>γ = P − α·tr(H⁻¹),  α = γ / 2E_W,  β = (N − γ) / 2E_D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Levenberg-Marquardt · closed-form Jacobian · picks 1-2 neurons</a:t>
            </a:r>
          </a:p>
        </p:txBody>
      </p:sp>
      <p:pic>
        <p:nvPicPr>
          <p:cNvPr id="18" name="Picture 17" descr="F3_neuron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000250"/>
            <a:ext cx="5257800" cy="36804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RANDOM CV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Our best models: lower MSE than the paper's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2A78D6"/>
                </a:solidFill>
                <a:latin typeface="Cambria"/>
              </a:rPr>
              <a:t>0.0079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S1, ours (ensemble)
paper ref.: 0.0089 (lin. reg.)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190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2A78D6"/>
                </a:solidFill>
                <a:latin typeface="Cambria"/>
              </a:rPr>
              <a:t>R² 0.88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231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 variance explained
(out-of-fold)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192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0.0109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S2, ours (SVR)
paper ref.: 0.0168 (lin. reg.)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1546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33192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R² 0.71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233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variance explained
(out-of-fold)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5488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64608"/>
            <a:ext cx="51206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1B2D"/>
                </a:solidFill>
                <a:latin typeface="Calibri"/>
              </a:rPr>
              <a:t>Not a like-for-like comparison. </a:t>
            </a:r>
            <a:r>
              <a:rPr sz="1300" b="0" i="0">
                <a:solidFill>
                  <a:srgbClr val="555B66"/>
                </a:solidFill>
                <a:latin typeface="Calibri"/>
              </a:rPr>
              <a:t>Ours: best of 13 models, repeated nested 5-fold CV. Paper: linear regression under its own 10-fold CV. Unseen-day validation (next slides) shows the remaining challenge.</a:t>
            </a:r>
          </a:p>
        </p:txBody>
      </p:sp>
      <p:pic>
        <p:nvPicPr>
          <p:cNvPr id="20" name="Picture 19" descr="F6_pred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584450"/>
            <a:ext cx="5257800" cy="25120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Random splits flatter models: unseen days are the real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4_model_zo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68532"/>
            <a:ext cx="7680960" cy="4189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645920"/>
            <a:ext cx="3337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Random CV: </a:t>
            </a:r>
            <a:r>
              <a:rPr sz="1500" b="0">
                <a:solidFill>
                  <a:srgbClr val="14171C"/>
                </a:solidFill>
                <a:latin typeface="Calibri"/>
              </a:rPr>
              <a:t>GP, SVR and the ensemble lead (MSE ≈ 0.008-0.011)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Unseen day: </a:t>
            </a:r>
            <a:r>
              <a:rPr sz="1500" b="0">
                <a:solidFill>
                  <a:srgbClr val="14171C"/>
                </a:solidFill>
                <a:latin typeface="Calibri"/>
              </a:rPr>
              <a:t>error roughly doubles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Simple wins across days: </a:t>
            </a:r>
            <a:r>
              <a:rPr sz="1500" b="0">
                <a:solidFill>
                  <a:srgbClr val="14171C"/>
                </a:solidFill>
                <a:latin typeface="Calibri"/>
              </a:rPr>
              <a:t>PLS / Ridge reach 0.0145 on S1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Trees &amp; kNN </a:t>
            </a:r>
            <a:r>
              <a:rPr sz="1500" b="0">
                <a:solidFill>
                  <a:srgbClr val="14171C"/>
                </a:solidFill>
                <a:latin typeface="Calibri"/>
              </a:rPr>
              <a:t>overfit within-day structure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EB6834"/>
                </a:solidFill>
                <a:latin typeface="Calibri"/>
              </a:rPr>
              <a:t>Lesson: </a:t>
            </a:r>
            <a:r>
              <a:rPr sz="1500" b="0">
                <a:solidFill>
                  <a:srgbClr val="14171C"/>
                </a:solidFill>
                <a:latin typeface="Calibri"/>
              </a:rPr>
              <a:t>report the protocol that matches deployment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GENERALISATION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Predicting a session the model has never seen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5_unseen_day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17243"/>
            <a:ext cx="7863840" cy="424647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4630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62763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2A78D6"/>
                </a:solidFill>
                <a:latin typeface="Cambria"/>
              </a:rPr>
              <a:t>≈ 12 %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317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 unseen-day error, best model (OLS, MSE 0.014, R² 0.79)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0632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322783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ρ ≈ 0.62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9319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within-day rank correlation (S1), what the optimiser needs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6634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4828031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≈ 16 %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5321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unseen-day error, best model (Grad. Boosting, MSE 0.026); GP shown: 0.046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EMG carries the signal, and a few muscles do most of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8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05682"/>
            <a:ext cx="7589520" cy="386375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21040" y="1508760"/>
          <a:ext cx="3733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 set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S1 GP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S2 GP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All features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0.0081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0.0129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Step + EMG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EMG only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0.0107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0.0146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Step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370332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55B66"/>
                </a:solidFill>
                <a:latin typeface="Calibri"/>
              </a:rPr>
              <a:t>Feature-set ablation (CV MSE)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EMG is the strongest group in grouped importance </a:t>
            </a:r>
            <a:r>
              <a:rPr sz="1500" b="0">
                <a:solidFill>
                  <a:srgbClr val="14171C"/>
                </a:solidFill>
                <a:latin typeface="Calibri"/>
              </a:rPr>
              <a:t>for both subjects. The ablation is a different test: for S2 (GP) step-only ≈ EMG-only (0.0141 vs 0.0146).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Reducing unseen-day error with just 3 mask spot-checks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F14_day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5715000" cy="2286000"/>
          </a:xfrm>
          <a:prstGeom prst="rect">
            <a:avLst/>
          </a:prstGeom>
        </p:spPr>
      </p:pic>
      <p:pic>
        <p:nvPicPr>
          <p:cNvPr id="7" name="Picture 6" descr="F15_sensor_redu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719072"/>
            <a:ext cx="5577840" cy="22311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EB6834"/>
                </a:solidFill>
                <a:latin typeface="Cambria"/>
              </a:rPr>
              <a:t>−51 %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unseen-day error with just 3 of 36 mask spot-checks (GP 0.046 → 0.022)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B2D"/>
                </a:solidFill>
                <a:latin typeface="Cambria"/>
              </a:rPr>
              <a:t>w = k/(k+σ²/τ²)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empirical-Bayes shrinkage: trusts calibration only as much as the training days justify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BAF7A"/>
                </a:solidFill>
                <a:latin typeface="Cambria"/>
              </a:rPr>
              <a:t>4 of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EMG electrodes beat all 16 for S2 (unseen-day Ridge 0.036 → 0.024)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Live demo: the code,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Baseline (paper port)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paper_reproduction/lin_reg_test.py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Linear Regression 5-Fold CV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Mean MSE: 0.010700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Mean R² : 0.8349</a:t>
            </a:r>
          </a:p>
        </p:txBody>
      </p:sp>
      <p:sp>
        <p:nvSpPr>
          <p:cNvPr id="11" name="Oval 10"/>
          <p:cNvSpPr/>
          <p:nvPr/>
        </p:nvSpPr>
        <p:spPr>
          <a:xfrm>
            <a:off x="4297679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Predict unseen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scripts/predict.py --demo --subject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day      MSE   %err      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1   0.0286  16.9%   0.82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2   0.0191  13.8%   0.49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3   0.0132  11.5%   0.64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4   0.0119  10.9%   0.61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5   0.0149  12.2%   0.67</a:t>
            </a:r>
          </a:p>
        </p:txBody>
      </p:sp>
      <p:sp>
        <p:nvSpPr>
          <p:cNvPr id="16" name="Oval 15"/>
          <p:cNvSpPr/>
          <p:nvPr/>
        </p:nvSpPr>
        <p:spPr>
          <a:xfrm>
            <a:off x="8046719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Automated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-m pytest -q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..........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10 passed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1 = the paper's linear-regression baseline (S1 MSE 0.0107; paper reports 0.0089 with its own folds). Our best model (slide 6) reaches 0.0079.  ·  Run from the ML proj folder, under a minute.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FD4F2"/>
                </a:solidFill>
                <a:latin typeface="Calibri"/>
              </a:rPr>
              <a:t>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Wearable signals can reduce dependence on metabolic measurements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9-10 %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212140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error within a session from EMG + gait (mean baseline: 19-26 %)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6596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14884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2×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12140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error on a new day; 3 mask spot-checks cut S2's by 51 % on this small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EMG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353872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is the key signal; 4 of 16 electrodes beat all 16 for S2, so cheaper hardware is possible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3832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1 :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53872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models must be subject-specific; cross-person transfer is worse than the mean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83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Validate on more subjects, with anthropometrics + IMU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Test spot-check calibration in real HILO sessions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Use the surrogate as a prior inside CMA-ES / Bayesian optimisation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Thank you,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488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FD4F2"/>
                </a:solidFill>
                <a:latin typeface="Calibri"/>
              </a:rPr>
              <a:t>Code, data, figures and the 2-page write-up are in the private GitHub repository.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Mukil Skanda A</a:t>
            </a:r>
            <a:r>
              <a:rPr sz="2000" b="0" i="0">
                <a:solidFill>
                  <a:srgbClr val="BFD4F2"/>
                </a:solidFill>
                <a:latin typeface="Calibri"/>
              </a:rPr>
              <a:t>  ·  PES1UG24CS281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Likhith M</a:t>
            </a:r>
            <a:r>
              <a:rPr sz="2000" b="0" i="0">
                <a:solidFill>
                  <a:srgbClr val="BFD4F2"/>
                </a:solidFill>
                <a:latin typeface="Calibri"/>
              </a:rPr>
              <a:t>  ·  PES1UG24CS282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alibri"/>
              </a:rPr>
              <a:t>Ref: Krimsky &amp; Ng, CS229 2018 · Zhang et al., Science 2017 · MacKay 1992 · Rasmussen &amp; Williams 2006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BACKUP · DEEPER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Why PCA failed, and why one model cannot fit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14</a:t>
            </a:r>
          </a:p>
        </p:txBody>
      </p:sp>
      <p:pic>
        <p:nvPicPr>
          <p:cNvPr id="6" name="Picture 5" descr="F9_dimensionality_red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37943"/>
            <a:ext cx="5669280" cy="2267712"/>
          </a:xfrm>
          <a:prstGeom prst="rect">
            <a:avLst/>
          </a:prstGeom>
        </p:spPr>
      </p:pic>
      <p:pic>
        <p:nvPicPr>
          <p:cNvPr id="7" name="Picture 6" descr="F12_cross_sub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623060"/>
            <a:ext cx="5394960" cy="2697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75488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73752"/>
            <a:ext cx="502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Supervised &gt; unsupervised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B66"/>
                </a:solidFill>
                <a:latin typeface="Calibri"/>
              </a:rPr>
              <a:t>1 PLS component (0.0138) = 8 PCA components on S2. Forward selection is greedy and unstable.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754880"/>
            <a:ext cx="5349240" cy="14630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87375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People are different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B66"/>
                </a:solidFill>
                <a:latin typeface="Calibri"/>
              </a:rPr>
              <a:t>S1 → S2: MSE 0.152 vs 0.036 for the mean. Per-subject z-scoring → 0.046. Personal models are needed.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BACKUP ·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The model knows when it is unsure, and more data would 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15</a:t>
            </a:r>
          </a:p>
        </p:txBody>
      </p:sp>
      <p:pic>
        <p:nvPicPr>
          <p:cNvPr id="6" name="Picture 5" descr="F11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197" y="1371600"/>
            <a:ext cx="3664245" cy="3429000"/>
          </a:xfrm>
          <a:prstGeom prst="rect">
            <a:avLst/>
          </a:prstGeom>
        </p:spPr>
      </p:pic>
      <p:pic>
        <p:nvPicPr>
          <p:cNvPr id="7" name="Picture 6" descr="F10_learning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696212"/>
            <a:ext cx="6949440" cy="27797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983480"/>
            <a:ext cx="40233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48072"/>
            <a:ext cx="3566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AF7A"/>
                </a:solidFill>
                <a:latin typeface="Cambria"/>
              </a:rPr>
              <a:t>94 %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852160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of unseen-day points inside the S1 95 % interval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983480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5148072"/>
            <a:ext cx="6446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AF7A"/>
                </a:solidFill>
                <a:latin typeface="Cambria"/>
              </a:rPr>
              <a:t>0.0155 → 0.0088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5852160"/>
            <a:ext cx="6446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 GP test MSE from 28 to 144 training samples, still decreasing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