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team. One line: we predict how much energy a person burns while walking in an exoskeleton, from sensors they could wear anywhere, instead of from a lab-only breathing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HILO: CMA-ES proposes a torque profile every 2 min and keeps those with the lowest metabolic cost (Zhang et al., Science 2017). Metabolic cost comes from a mask (indirect calorimetry): slow, noisy, lab-only. If we can predict it from wearable signals, HILO becomes faster and portable.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from the Stanford Biomechatronics Lab HILO study, as released with the CS229 paper we were given. Each row is the last 30 s of a 2-min condition. One Subject-2 row had a negative (impossible) metabolic rate and is removed, as in the original. Point at the plot: cost drops ~40% across days because the user learns to walk with the exo. The data are non-stationary, which matters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left to right. Pre-processing was done by the lab: EMG filtering and day normalisation. Our contribution starts at the feature matrix: a leakage-free model zoo, two validation protocols and analyses aimed at what the optimiser actually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used MATLAB trainbr. We re-implemented it in NumPy: Levenberg-Marquardt steps plus MacKay's evidence updates for alpha, beta and gamma, so regularisation is learned from the training data with no validation split. The Jacobian is closed form and unit-tested against finite differences. The neuron sweep (right) reproduces the paper's Fig. 1: 1-2 neurons are best. The Gaussian Process adds calibrated uncertainty.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protocol as the paper: random 5-fold CV, repeated 5 times and properly nested. S1: 0.0079 vs 0.0089 (11% lower). S2: 0.0109 vs 0.0168 (35% lower). In plain terms, about 9-10% error relative to normal-walking cost, versus 19-26% for predicting the mean. The noise floor is 0.0025, so headroom remains.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Dark bars use the paper's protocol; light bars use leave-one-day-out. Every model gets worse on an unseen day: neighbouring conditions from the same day leak information under random splits. For S1, heavily regularised linear models (OLS/PLS/Ridge) generalise best across days, while trees and kNN overfit. For S2, several models are worse than the mean on unseen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day is predicted by a GP trained only on the other four days; the shaded band is the GP 95% interval. S1 tracks closely (r = 0.88, R² ≈ 0.79 for the best linear model). S2 misses the drop in level on days 3-5: its sensors do not see that change, and the wider band shows the GP knows it is less sure. For CMA-ES, ranking within a day is what matters; Spearman rho is about 0.6 for S1.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Permutation importance on held-out folds, plus a group-wise permutation. EMG &gt; Step &gt; Control for S1, and EMG &gt; Control &gt; Step for S2, matching the paper's ablation. LASSO stability selection over 200 bootstraps keeps R4 and R7 (S1) and R2 (S2) 93-100% of the time, so a reduced sensor set is realistic. Dropping the control parameters barely hurts, which is good for portability to other devices.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PCA ignores the target. Supervised PLS with one component matches PCA with 8 on S2, which explains the paper's poor PCA result. Right: train on one person, test on the other: worse than predicting the mean. Per-subject z-scoring cuts the error 3x but is still not useful, so models must be subject-specific (or need many more subjects plus anthropometrics).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Calibration: the GP's nominal 95% interval covers 94% of unseen-day points for S1, close to perfect. For S2 it covers 77%, so it is over-confident on the harder subject, but the intervals are visibly wider there. Learning curves are still falling for S1 at 144 samples: more sessions should keep improving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Calibration: on a new day, measure k random conditions with the mask and shift that day's predictions by a shrunken offset w * mean residual, with w = k / (k + sigma^2 / tau^2). Both variances are estimated from the training days only (empirical Bayes). S2 trusts calibration (w about 0.87); S1, whose days are already well predicted, trusts it less. 3 of 36 readings: S2 GP 0.046 -&gt; 0.022. Calibrating on the first conditions of a session is biased (cost runs high early on) and hurt S1 at k &gt;= 5; shrinkage limits the damage. Sensors: electrode choice is made inside each training fold, so there is no leakage. Cross-subject recalibration did NOT help: a new person needs their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a terminal in the project folder (cd into ML proj). Run the three commands in order. (1) The paper reproduction prints linear-regression MSE 0.0107 and R2 0.83 for Subject 1. (2) predict.py trains a Gaussian Process on 4 days and predicts each unseen day; errors of about 11-17 %. (3) pytest shows all 10 tests pass. Total under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four numbers. Future work: the biggest lever is more people. A daily calibration walk could fix the day-level offset seen in Subject 2. Use the prediction as a prior to speed up the optimiser rather than as a complete replacement for the mask.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114300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005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 · #11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Predicting Metabolic Cost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During Human-in-the-Loop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033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FD4F2"/>
                </a:solidFill>
                <a:latin typeface="Calibri"/>
              </a:rPr>
              <a:t>Replacing a slow, lab-only face-mask measurement with wearable EMG and gait sensors, for exoskeletons that tune themselves outside the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Team:  </a:t>
            </a:r>
            <a:r>
              <a:rPr sz="1600" b="0" i="0">
                <a:solidFill>
                  <a:srgbClr val="BFD4F2"/>
                </a:solidFill>
                <a:latin typeface="Calibri"/>
              </a:rPr>
              <a:t>Mukil Skanda A (PES1UG24CS281)   ·   Likhith M (PES1UG24CS282)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BFD4F2"/>
                </a:solidFill>
                <a:latin typeface="Calibri"/>
              </a:rPr>
              <a:t>UE24CS352A Machine Learning · Mini-Project Review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Exoskeleton tuning is bottlenecked by a breathing mask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CMA-ES optimiser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proposes new torque profile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4612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Exoskeleton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applies it for 2 min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Human walks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55B66"/>
                </a:solidFill>
                <a:latin typeface="Calibri"/>
              </a:rPr>
              <a:t>body adapts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503920" y="2212848"/>
            <a:ext cx="182880" cy="274320"/>
          </a:xfrm>
          <a:prstGeom prst="rightArrow">
            <a:avLst/>
          </a:prstGeom>
          <a:solidFill>
            <a:srgbClr val="55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41080" y="173736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59" y="1874519"/>
            <a:ext cx="2148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Metabolic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59" y="23317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measured via face mask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B66"/>
                </a:solidFill>
                <a:latin typeface="Calibri"/>
              </a:rPr>
              <a:t>↻  repeated 36× per 72-min session, feedback = metabolic cost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~1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to settle after every change in control law, so it is slow feedback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≈ 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irreducible noise in the measurement (MSE floor ≈ 0.0025)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749039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3913631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EB6834"/>
                </a:solidFill>
                <a:latin typeface="Cambria"/>
              </a:rPr>
              <a:t>Lab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61772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needs a face mask, a metabolic cart and fasting subjects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Our goal: </a:t>
            </a:r>
            <a:r>
              <a:rPr sz="1700" b="0" i="0">
                <a:solidFill>
                  <a:srgbClr val="14171C"/>
                </a:solidFill>
                <a:latin typeface="Calibri"/>
              </a:rPr>
              <a:t>learn  f(EMG, gait, controls) → metabolic cost  so the mask can eventually be replaced by sensors a person could wear anywhere.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Real lab data: 2 people, 5 days, 36 assistance conditions per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359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samples
(180 + 179)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2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features per
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1508760"/>
            <a:ext cx="182880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1673351"/>
            <a:ext cx="1371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</a:rPr>
              <a:t>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377439"/>
            <a:ext cx="1371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noise-floor
MSE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73552"/>
            <a:ext cx="256032" cy="256032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200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16  EMG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8 muscles per leg; band-pass → rectify → RMS, normalised each day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050791"/>
            <a:ext cx="256032" cy="256032"/>
          </a:xfrm>
          <a:prstGeom prst="ellipse">
            <a:avLst/>
          </a:prstGeom>
          <a:solidFill>
            <a:srgbClr val="1B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9  Step / gait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peak ground force, ankle dorsi/plantar-flexion, step time, step width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828032"/>
            <a:ext cx="256032" cy="256032"/>
          </a:xfrm>
          <a:prstGeom prst="ellipse">
            <a:avLst/>
          </a:prstGeom>
          <a:solidFill>
            <a:srgbClr val="EDA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75488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4  Control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exo torque profile: peak torque, peak time, rise time, fall time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605272"/>
            <a:ext cx="256032" cy="256032"/>
          </a:xfrm>
          <a:prstGeom prst="ellipse">
            <a:avLst/>
          </a:prstGeom>
          <a:solidFill>
            <a:srgbClr val="EB6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5321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1  Target</a:t>
            </a:r>
          </a:p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metabolic rate - standing baseline, ÷ normal walking (1.0 = no exo)</a:t>
            </a:r>
          </a:p>
        </p:txBody>
      </p:sp>
      <p:pic>
        <p:nvPicPr>
          <p:cNvPr id="23" name="Picture 22" descr="F1_dataset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571750"/>
            <a:ext cx="5074920" cy="25374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F13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63040"/>
            <a:ext cx="11064240" cy="27660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43484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461772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4515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Leakage-free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66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Scaling and every hyper-parameter search happen inside training folds (nested CV). The paper tuned λ on its test folds.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443484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26279" y="461772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464515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protocols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5166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Random 5-fold ×5 (the paper's, for comparison) and leave-one-day-out (predict a whole new session, the realistic case).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19" y="4434840"/>
            <a:ext cx="3520440" cy="16916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75319" y="461772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4645152"/>
            <a:ext cx="2560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Two layers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5166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A faithful 1:1 Python port of the paper's MATLAB scripts (baseline), plus the extended study: 12 experiments, 16 figures, 10 unit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13 models, including the paper's network rebuilt from scratch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50876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OLS · LASSO · Ridge · Elastic Net · PLS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1226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Kernel / instance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2112264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SVR (RBF) · kNN · Gaussian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1576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715768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Random Forest · Extra Trees · Gradient Boosting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Neural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31927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Bayesian-regularised NN (trainbr)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92277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Ensemble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92277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71C"/>
                </a:solidFill>
                <a:latin typeface="Calibri"/>
              </a:rPr>
              <a:t>average of GP + SVR + LASSO + Extra Trees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6344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5212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Bayesian-regularised NN, from scratch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F(w) = β·E_D + α·E_W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BFD4F2"/>
                </a:solidFill>
                <a:latin typeface="Cambria"/>
              </a:rPr>
              <a:t>γ = P − α·tr(H⁻¹),  α = γ / 2E_W,  β = (N − γ) / 2E_D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Levenberg-Marquardt · closed-form Jacobian · picks 1-2 neurons</a:t>
            </a:r>
          </a:p>
        </p:txBody>
      </p:sp>
      <p:pic>
        <p:nvPicPr>
          <p:cNvPr id="18" name="Picture 17" descr="F3_neur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000250"/>
            <a:ext cx="5257800" cy="36804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We beat the original study on both subjects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190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0.0079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231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Subject 1 MSE (ours)
paper: 0.0089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5544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7190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2A78D6"/>
                </a:solidFill>
                <a:latin typeface="Cambria"/>
              </a:rPr>
              <a:t>−11 %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231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error vs paper
on Subject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3192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0.0109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233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Subject 2 MSE (ours)
paper: 0.0168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3154680"/>
            <a:ext cx="269748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331927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EB6834"/>
                </a:solidFill>
                <a:latin typeface="Cambria"/>
              </a:rPr>
              <a:t>−35 %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2336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error vs paper
on Subject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754880"/>
            <a:ext cx="557784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9472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R² = 0.88  /  0.71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2356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variance explained (S1 / S2), out-of-fold</a:t>
            </a:r>
          </a:p>
        </p:txBody>
      </p:sp>
      <p:pic>
        <p:nvPicPr>
          <p:cNvPr id="21" name="Picture 20" descr="F6_pred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584450"/>
            <a:ext cx="5257800" cy="25120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Random splits flatter models: unseen days are the real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F4_model_zo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68532"/>
            <a:ext cx="7680960" cy="4189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66760" y="1645920"/>
            <a:ext cx="3337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Random CV: </a:t>
            </a:r>
            <a:r>
              <a:rPr sz="1500" b="0">
                <a:solidFill>
                  <a:srgbClr val="14171C"/>
                </a:solidFill>
                <a:latin typeface="Calibri"/>
              </a:rPr>
              <a:t>GP, SVR and the ensemble lead (MSE ≈ 0.008-0.011)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Unseen day: </a:t>
            </a:r>
            <a:r>
              <a:rPr sz="1500" b="0">
                <a:solidFill>
                  <a:srgbClr val="14171C"/>
                </a:solidFill>
                <a:latin typeface="Calibri"/>
              </a:rPr>
              <a:t>error roughly doubles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Simple wins across days: </a:t>
            </a:r>
            <a:r>
              <a:rPr sz="1500" b="0">
                <a:solidFill>
                  <a:srgbClr val="14171C"/>
                </a:solidFill>
                <a:latin typeface="Calibri"/>
              </a:rPr>
              <a:t>PLS / Ridge reach 0.0145 on S1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Trees &amp; kNN </a:t>
            </a:r>
            <a:r>
              <a:rPr sz="1500" b="0">
                <a:solidFill>
                  <a:srgbClr val="14171C"/>
                </a:solidFill>
                <a:latin typeface="Calibri"/>
              </a:rPr>
              <a:t>overfit within-day structure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EB6834"/>
                </a:solidFill>
                <a:latin typeface="Calibri"/>
              </a:rPr>
              <a:t>Lesson: </a:t>
            </a:r>
            <a:r>
              <a:rPr sz="1500" b="0">
                <a:solidFill>
                  <a:srgbClr val="14171C"/>
                </a:solidFill>
                <a:latin typeface="Calibri"/>
              </a:rPr>
              <a:t>report the protocol that matches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GENERALISATION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Predicting a session the model has never seen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F5_unseen_day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17243"/>
            <a:ext cx="7863840" cy="424647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49640" y="14630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6276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2A78D6"/>
                </a:solidFill>
                <a:latin typeface="Cambria"/>
              </a:rPr>
              <a:t>≈ 12 %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317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error on unseen days, Subject 1 (R² 0.78)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0632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3227832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2A78D6"/>
                </a:solidFill>
                <a:latin typeface="Cambria"/>
              </a:rPr>
              <a:t>ρ ≈ 0.62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9319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within-day rank correlation (S1), what the optimiser needs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663440"/>
            <a:ext cx="31089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4828031"/>
            <a:ext cx="2651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≈ 16 %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532120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Subject 2: day-level shifts are invisible to the sensors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EMG carries the signal, and a few muscles do most of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F8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05682"/>
            <a:ext cx="7589520" cy="38637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21040" y="1508760"/>
          <a:ext cx="37338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 set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S1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S2 GP</a:t>
                      </a:r>
                    </a:p>
                  </a:txBody>
                  <a:tcPr>
                    <a:solidFill>
                      <a:srgbClr val="0F1B2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All features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0.0081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0.0129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+ EMG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EMG only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0.0107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0.0146</a:t>
                      </a:r>
                    </a:p>
                  </a:txBody>
                  <a:tcPr>
                    <a:solidFill>
                      <a:srgbClr val="F1F5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Step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71C"/>
                          </a:solidFill>
                          <a:latin typeface="Calibri"/>
                        </a:rPr>
                        <a:t>0.0141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370332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55B66"/>
                </a:solidFill>
                <a:latin typeface="Calibri"/>
              </a:rPr>
              <a:t>Feature-set ablation (CV MSE)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>
                <a:solidFill>
                  <a:srgbClr val="14171C"/>
                </a:solidFill>
                <a:latin typeface="Calibri"/>
              </a:rPr>
              <a:t>EMG is the strongest group </a:t>
            </a:r>
            <a:r>
              <a:rPr sz="1500" b="0">
                <a:solidFill>
                  <a:srgbClr val="14171C"/>
                </a:solidFill>
                <a:latin typeface="Calibri"/>
              </a:rPr>
              <a:t>in grouped importance for both subjects; dropping the controls costs little, which helps transfer to other exo hardware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DEEPER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Why PCA failed, and why one model cannot fit everyone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F9_dimensionality_red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37943"/>
            <a:ext cx="5669280" cy="2267712"/>
          </a:xfrm>
          <a:prstGeom prst="rect">
            <a:avLst/>
          </a:prstGeom>
        </p:spPr>
      </p:pic>
      <p:pic>
        <p:nvPicPr>
          <p:cNvPr id="7" name="Picture 6" descr="F12_cross_subj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623060"/>
            <a:ext cx="5394960" cy="2697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754880"/>
            <a:ext cx="5440680" cy="14630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73752"/>
            <a:ext cx="5029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Supervised &gt; unsupervised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B66"/>
                </a:solidFill>
                <a:latin typeface="Calibri"/>
              </a:rPr>
              <a:t>1 PLS component (0.0138) = 8 PCA components on S2. Forward selection is greedy and unstable.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754880"/>
            <a:ext cx="5349240" cy="146304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87375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F1B2D"/>
                </a:solidFill>
                <a:latin typeface="Calibri"/>
              </a:rPr>
              <a:t>People are different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55B66"/>
                </a:solidFill>
                <a:latin typeface="Calibri"/>
              </a:rPr>
              <a:t>S1 → S2: MSE 0.152 vs 0.036 for the mean. Per-subject z-scoring → 0.046. Personal models are needed.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RESULTS · RELIABILITY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The model knows when it is unsure, and more data would 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11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197" y="1371600"/>
            <a:ext cx="3664245" cy="3429000"/>
          </a:xfrm>
          <a:prstGeom prst="rect">
            <a:avLst/>
          </a:prstGeom>
        </p:spPr>
      </p:pic>
      <p:pic>
        <p:nvPicPr>
          <p:cNvPr id="7" name="Picture 6" descr="F10_learning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696212"/>
            <a:ext cx="6949440" cy="27797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983480"/>
            <a:ext cx="40233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148072"/>
            <a:ext cx="3566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AF7A"/>
                </a:solidFill>
                <a:latin typeface="Cambria"/>
              </a:rPr>
              <a:t>94 %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52160"/>
            <a:ext cx="3566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of unseen-day points inside the S1 95 % interval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983480"/>
            <a:ext cx="690372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5148072"/>
            <a:ext cx="6446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AF7A"/>
                </a:solidFill>
                <a:latin typeface="Cambria"/>
              </a:rPr>
              <a:t>0.0155 → 0.0088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5852160"/>
            <a:ext cx="6446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S1 GP test MSE from 28 to 144 training samples, still decreasing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IMPROVEMENTS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Fixing the weaknesses, without collecting new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F14_day_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5715000" cy="2286000"/>
          </a:xfrm>
          <a:prstGeom prst="rect">
            <a:avLst/>
          </a:prstGeom>
        </p:spPr>
      </p:pic>
      <p:pic>
        <p:nvPicPr>
          <p:cNvPr id="7" name="Picture 6" descr="F15_sensor_reduc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719072"/>
            <a:ext cx="5577840" cy="22311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EB6834"/>
                </a:solidFill>
                <a:latin typeface="Cambria"/>
              </a:rPr>
              <a:t>−51 %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S2 unseen-day error with just 3 of 36 mask spot-checks (GP 0.046 → 0.022)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B2D"/>
                </a:solidFill>
                <a:latin typeface="Cambria"/>
              </a:rPr>
              <a:t>w = k/(k+σ²/τ²)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empirical-Bayes shrinkage: trusts calibration only as much as the training days justify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452628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F1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690872"/>
            <a:ext cx="3108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BAF7A"/>
                </a:solidFill>
                <a:latin typeface="Cambria"/>
              </a:rPr>
              <a:t>4 of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94960"/>
            <a:ext cx="3108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55B66"/>
                </a:solidFill>
                <a:latin typeface="Calibri"/>
              </a:rPr>
              <a:t>EMG electrodes beat all 16 for S2 (unseen-day Ridge 0.036 → 0.024)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A78D6"/>
                </a:solidFill>
                <a:latin typeface="Calibri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F1B2D"/>
                </a:solidFill>
                <a:latin typeface="Cambria"/>
              </a:rPr>
              <a:t>Live demo: the code,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55B66"/>
                </a:solidFill>
                <a:latin typeface="Calibri"/>
              </a:rPr>
              <a:t>MetaCost · Predicting metabolic cost during HILO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667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55B66"/>
                </a:solidFill>
                <a:latin typeface="Calibri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Paper reproduction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paper_reproduction/lin_reg_test.py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Linear Regression 5-Fold CV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MSE: 0.010700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Mean R² : 0.8349</a:t>
            </a:r>
          </a:p>
        </p:txBody>
      </p:sp>
      <p:sp>
        <p:nvSpPr>
          <p:cNvPr id="11" name="Oval 10"/>
          <p:cNvSpPr/>
          <p:nvPr/>
        </p:nvSpPr>
        <p:spPr>
          <a:xfrm>
            <a:off x="429767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Predict unseen days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scripts/predict.py --demo --subject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day      MSE   %err      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1   0.0286  16.9%   0.82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2   0.0191  13.8%   0.49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3   0.0132  11.5%   0.64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4   0.0119  10.9%   0.61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  5   0.0149  12.2%   0.67</a:t>
            </a:r>
          </a:p>
        </p:txBody>
      </p:sp>
      <p:sp>
        <p:nvSpPr>
          <p:cNvPr id="16" name="Oval 15"/>
          <p:cNvSpPr/>
          <p:nvPr/>
        </p:nvSpPr>
        <p:spPr>
          <a:xfrm>
            <a:off x="8046719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554480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0F1B2D"/>
                </a:solidFill>
                <a:latin typeface="Calibri"/>
              </a:rPr>
              <a:t>Automated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148840"/>
            <a:ext cx="3520440" cy="3566160"/>
          </a:xfrm>
          <a:prstGeom prst="roundRect">
            <a:avLst>
              <a:gd name="adj" fmla="val 5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2286000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ourier New"/>
              </a:rPr>
              <a:t>$ python -m pytest -q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3154680"/>
            <a:ext cx="3200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..........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10 passed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55B66"/>
                </a:solidFill>
                <a:latin typeface="Calibri"/>
              </a:rPr>
              <a:t>Run from the project folder:  cd "ML proj"   ·   total time under a minute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FD4F2"/>
                </a:solidFill>
                <a:latin typeface="Calibri"/>
              </a:rPr>
              <a:t>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Wearables can replace the mask, one person at a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9-10 %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31720" y="212140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within a session from EMG + gait (mean-baseline: 19-26 %); beats the original study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6596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214884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2×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12140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error on a new day: random-split CV is optimistic, so deploy-style validation matters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EMG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353872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is the key signal; 4 of 16 electrodes beat all 16 for S2, so cheaper hardware is possible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440680" cy="1234440"/>
          </a:xfrm>
          <a:prstGeom prst="roundRect">
            <a:avLst>
              <a:gd name="adj" fmla="val 8000"/>
            </a:avLst>
          </a:prstGeom>
          <a:solidFill>
            <a:srgbClr val="1C2C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</a:rPr>
              <a:t>1 :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538728"/>
            <a:ext cx="34747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models must be subject-specific; cross-person transfer is worse than the mean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83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More subjects + anthropometrics + IMU kinematics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7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Test spot-check calibration live in a real HILO session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5394960"/>
            <a:ext cx="3520440" cy="82296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9" y="5394960"/>
            <a:ext cx="3154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Use the surrogate as a prior inside CMA-ES / Bayesian optimisation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Thank you, 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BFD4F2"/>
                </a:solidFill>
                <a:latin typeface="Calibri"/>
              </a:rPr>
              <a:t>Code, data, figures and the 2-page write-up are in the private GitHub repository.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Mukil Skanda A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PES1UG24CS281</a:t>
            </a:r>
          </a:p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Likhith M</a:t>
            </a:r>
            <a:r>
              <a:rPr sz="2000" b="0" i="0">
                <a:solidFill>
                  <a:srgbClr val="BFD4F2"/>
                </a:solidFill>
                <a:latin typeface="Calibri"/>
              </a:rPr>
              <a:t>  ·  PES1UG24CS282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BFD4F2"/>
                </a:solidFill>
                <a:latin typeface="Calibri"/>
              </a:rPr>
              <a:t>Ref: Krimsky &amp; Ng, CS229 2018 · Zhang et al., Science 2017 · MacKay 1992 · Rasmussen &amp; Williams 2006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